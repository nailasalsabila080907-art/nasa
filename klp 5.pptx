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832717">
            <a:off x="7828540" y="-950952"/>
            <a:ext cx="1987590" cy="7174727"/>
            <a:chOff x="0" y="0"/>
            <a:chExt cx="523480" cy="1889640"/>
          </a:xfrm>
        </p:grpSpPr>
        <p:sp>
          <p:nvSpPr>
            <p:cNvPr name="Freeform 7" id="7"/>
            <p:cNvSpPr/>
            <p:nvPr/>
          </p:nvSpPr>
          <p:spPr>
            <a:xfrm flipH="false" flipV="false" rot="0">
              <a:off x="0" y="0"/>
              <a:ext cx="523480" cy="1889640"/>
            </a:xfrm>
            <a:custGeom>
              <a:avLst/>
              <a:gdLst/>
              <a:ahLst/>
              <a:cxnLst/>
              <a:rect r="r" b="b" t="t" l="l"/>
              <a:pathLst>
                <a:path h="1889640" w="523480">
                  <a:moveTo>
                    <a:pt x="0" y="0"/>
                  </a:moveTo>
                  <a:lnTo>
                    <a:pt x="523480" y="0"/>
                  </a:lnTo>
                  <a:lnTo>
                    <a:pt x="523480" y="1889640"/>
                  </a:lnTo>
                  <a:lnTo>
                    <a:pt x="0" y="1889640"/>
                  </a:lnTo>
                  <a:close/>
                </a:path>
              </a:pathLst>
            </a:custGeom>
            <a:solidFill>
              <a:srgbClr val="2B4A9D"/>
            </a:solidFill>
          </p:spPr>
        </p:sp>
        <p:sp>
          <p:nvSpPr>
            <p:cNvPr name="TextBox 8" id="8"/>
            <p:cNvSpPr txBox="true"/>
            <p:nvPr/>
          </p:nvSpPr>
          <p:spPr>
            <a:xfrm>
              <a:off x="0" y="-57150"/>
              <a:ext cx="523480" cy="194679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832717">
            <a:off x="16513326" y="2803127"/>
            <a:ext cx="1987590" cy="7819086"/>
            <a:chOff x="0" y="0"/>
            <a:chExt cx="523480" cy="2059348"/>
          </a:xfrm>
        </p:grpSpPr>
        <p:sp>
          <p:nvSpPr>
            <p:cNvPr name="Freeform 10" id="10"/>
            <p:cNvSpPr/>
            <p:nvPr/>
          </p:nvSpPr>
          <p:spPr>
            <a:xfrm flipH="false" flipV="false" rot="0">
              <a:off x="0" y="0"/>
              <a:ext cx="523480" cy="2059348"/>
            </a:xfrm>
            <a:custGeom>
              <a:avLst/>
              <a:gdLst/>
              <a:ahLst/>
              <a:cxnLst/>
              <a:rect r="r" b="b" t="t" l="l"/>
              <a:pathLst>
                <a:path h="2059348" w="523480">
                  <a:moveTo>
                    <a:pt x="0" y="0"/>
                  </a:moveTo>
                  <a:lnTo>
                    <a:pt x="523480" y="0"/>
                  </a:lnTo>
                  <a:lnTo>
                    <a:pt x="523480" y="2059348"/>
                  </a:lnTo>
                  <a:lnTo>
                    <a:pt x="0" y="2059348"/>
                  </a:lnTo>
                  <a:close/>
                </a:path>
              </a:pathLst>
            </a:custGeom>
            <a:solidFill>
              <a:srgbClr val="2B4A9D"/>
            </a:solidFill>
          </p:spPr>
        </p:sp>
        <p:sp>
          <p:nvSpPr>
            <p:cNvPr name="TextBox 11" id="11"/>
            <p:cNvSpPr txBox="true"/>
            <p:nvPr/>
          </p:nvSpPr>
          <p:spPr>
            <a:xfrm>
              <a:off x="0" y="-57150"/>
              <a:ext cx="523480" cy="211649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368502" y="802224"/>
            <a:ext cx="7409104" cy="7409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A9D"/>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680756" y="1114479"/>
            <a:ext cx="6784595" cy="678459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71FF"/>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993010" y="1426733"/>
            <a:ext cx="6160087" cy="616008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grpSp>
        <p:nvGrpSpPr>
          <p:cNvPr name="Group 20" id="20"/>
          <p:cNvGrpSpPr/>
          <p:nvPr/>
        </p:nvGrpSpPr>
        <p:grpSpPr>
          <a:xfrm rot="-1832717">
            <a:off x="8164263" y="7886099"/>
            <a:ext cx="1091954" cy="5397287"/>
            <a:chOff x="0" y="0"/>
            <a:chExt cx="287593" cy="1421508"/>
          </a:xfrm>
        </p:grpSpPr>
        <p:sp>
          <p:nvSpPr>
            <p:cNvPr name="Freeform 21" id="21"/>
            <p:cNvSpPr/>
            <p:nvPr/>
          </p:nvSpPr>
          <p:spPr>
            <a:xfrm flipH="false" flipV="false" rot="0">
              <a:off x="0" y="0"/>
              <a:ext cx="287593" cy="1421508"/>
            </a:xfrm>
            <a:custGeom>
              <a:avLst/>
              <a:gdLst/>
              <a:ahLst/>
              <a:cxnLst/>
              <a:rect r="r" b="b" t="t" l="l"/>
              <a:pathLst>
                <a:path h="1421508" w="287593">
                  <a:moveTo>
                    <a:pt x="143796" y="0"/>
                  </a:moveTo>
                  <a:lnTo>
                    <a:pt x="143796" y="0"/>
                  </a:lnTo>
                  <a:cubicBezTo>
                    <a:pt x="223213" y="0"/>
                    <a:pt x="287593" y="64380"/>
                    <a:pt x="287593" y="143796"/>
                  </a:cubicBezTo>
                  <a:lnTo>
                    <a:pt x="287593" y="1277711"/>
                  </a:lnTo>
                  <a:cubicBezTo>
                    <a:pt x="287593" y="1315848"/>
                    <a:pt x="272443" y="1352424"/>
                    <a:pt x="245476" y="1379391"/>
                  </a:cubicBezTo>
                  <a:cubicBezTo>
                    <a:pt x="218509" y="1406358"/>
                    <a:pt x="181934" y="1421508"/>
                    <a:pt x="143796" y="1421508"/>
                  </a:cubicBezTo>
                  <a:lnTo>
                    <a:pt x="143796" y="1421508"/>
                  </a:lnTo>
                  <a:cubicBezTo>
                    <a:pt x="105659" y="1421508"/>
                    <a:pt x="69084" y="1406358"/>
                    <a:pt x="42117" y="1379391"/>
                  </a:cubicBezTo>
                  <a:cubicBezTo>
                    <a:pt x="15150" y="1352424"/>
                    <a:pt x="0" y="1315848"/>
                    <a:pt x="0" y="1277711"/>
                  </a:cubicBezTo>
                  <a:lnTo>
                    <a:pt x="0" y="143796"/>
                  </a:lnTo>
                  <a:cubicBezTo>
                    <a:pt x="0" y="105659"/>
                    <a:pt x="15150" y="69084"/>
                    <a:pt x="42117" y="42117"/>
                  </a:cubicBezTo>
                  <a:cubicBezTo>
                    <a:pt x="69084" y="15150"/>
                    <a:pt x="105659" y="0"/>
                    <a:pt x="143796" y="0"/>
                  </a:cubicBezTo>
                  <a:close/>
                </a:path>
              </a:pathLst>
            </a:custGeom>
            <a:solidFill>
              <a:srgbClr val="5271FF"/>
            </a:solidFill>
          </p:spPr>
        </p:sp>
        <p:sp>
          <p:nvSpPr>
            <p:cNvPr name="TextBox 22" id="22"/>
            <p:cNvSpPr txBox="true"/>
            <p:nvPr/>
          </p:nvSpPr>
          <p:spPr>
            <a:xfrm>
              <a:off x="0" y="-57150"/>
              <a:ext cx="287593" cy="147865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1832717">
            <a:off x="-959014" y="4771857"/>
            <a:ext cx="1091954" cy="5397287"/>
            <a:chOff x="0" y="0"/>
            <a:chExt cx="287593" cy="1421508"/>
          </a:xfrm>
        </p:grpSpPr>
        <p:sp>
          <p:nvSpPr>
            <p:cNvPr name="Freeform 24" id="24"/>
            <p:cNvSpPr/>
            <p:nvPr/>
          </p:nvSpPr>
          <p:spPr>
            <a:xfrm flipH="false" flipV="false" rot="0">
              <a:off x="0" y="0"/>
              <a:ext cx="287593" cy="1421508"/>
            </a:xfrm>
            <a:custGeom>
              <a:avLst/>
              <a:gdLst/>
              <a:ahLst/>
              <a:cxnLst/>
              <a:rect r="r" b="b" t="t" l="l"/>
              <a:pathLst>
                <a:path h="1421508" w="287593">
                  <a:moveTo>
                    <a:pt x="143796" y="0"/>
                  </a:moveTo>
                  <a:lnTo>
                    <a:pt x="143796" y="0"/>
                  </a:lnTo>
                  <a:cubicBezTo>
                    <a:pt x="223213" y="0"/>
                    <a:pt x="287593" y="64380"/>
                    <a:pt x="287593" y="143796"/>
                  </a:cubicBezTo>
                  <a:lnTo>
                    <a:pt x="287593" y="1277711"/>
                  </a:lnTo>
                  <a:cubicBezTo>
                    <a:pt x="287593" y="1315848"/>
                    <a:pt x="272443" y="1352424"/>
                    <a:pt x="245476" y="1379391"/>
                  </a:cubicBezTo>
                  <a:cubicBezTo>
                    <a:pt x="218509" y="1406358"/>
                    <a:pt x="181934" y="1421508"/>
                    <a:pt x="143796" y="1421508"/>
                  </a:cubicBezTo>
                  <a:lnTo>
                    <a:pt x="143796" y="1421508"/>
                  </a:lnTo>
                  <a:cubicBezTo>
                    <a:pt x="105659" y="1421508"/>
                    <a:pt x="69084" y="1406358"/>
                    <a:pt x="42117" y="1379391"/>
                  </a:cubicBezTo>
                  <a:cubicBezTo>
                    <a:pt x="15150" y="1352424"/>
                    <a:pt x="0" y="1315848"/>
                    <a:pt x="0" y="1277711"/>
                  </a:cubicBezTo>
                  <a:lnTo>
                    <a:pt x="0" y="143796"/>
                  </a:lnTo>
                  <a:cubicBezTo>
                    <a:pt x="0" y="105659"/>
                    <a:pt x="15150" y="69084"/>
                    <a:pt x="42117" y="42117"/>
                  </a:cubicBezTo>
                  <a:cubicBezTo>
                    <a:pt x="69084" y="15150"/>
                    <a:pt x="105659" y="0"/>
                    <a:pt x="143796" y="0"/>
                  </a:cubicBezTo>
                  <a:close/>
                </a:path>
              </a:pathLst>
            </a:custGeom>
            <a:solidFill>
              <a:srgbClr val="2B4A9D"/>
            </a:solidFill>
          </p:spPr>
        </p:sp>
        <p:sp>
          <p:nvSpPr>
            <p:cNvPr name="TextBox 25" id="25"/>
            <p:cNvSpPr txBox="true"/>
            <p:nvPr/>
          </p:nvSpPr>
          <p:spPr>
            <a:xfrm>
              <a:off x="0" y="-57150"/>
              <a:ext cx="287593" cy="1478658"/>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3948703" y="707414"/>
            <a:ext cx="1909980" cy="190998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71FF"/>
            </a:solidFill>
          </p:spPr>
        </p:sp>
        <p:sp>
          <p:nvSpPr>
            <p:cNvPr name="TextBox 28" id="28"/>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79267" y="4621289"/>
            <a:ext cx="10472686" cy="1510661"/>
          </a:xfrm>
          <a:prstGeom prst="rect">
            <a:avLst/>
          </a:prstGeom>
        </p:spPr>
        <p:txBody>
          <a:bodyPr anchor="t" rtlCol="false" tIns="0" lIns="0" bIns="0" rIns="0">
            <a:spAutoFit/>
          </a:bodyPr>
          <a:lstStyle/>
          <a:p>
            <a:pPr algn="l">
              <a:lnSpc>
                <a:spcPts val="11760"/>
              </a:lnSpc>
            </a:pPr>
            <a:r>
              <a:rPr lang="en-US" sz="8400" b="true">
                <a:solidFill>
                  <a:srgbClr val="2B4A9D"/>
                </a:solidFill>
                <a:latin typeface="Poppins Bold"/>
                <a:ea typeface="Poppins Bold"/>
                <a:cs typeface="Poppins Bold"/>
                <a:sym typeface="Poppins Bold"/>
              </a:rPr>
              <a:t>TRANSPORTINDO</a:t>
            </a:r>
          </a:p>
        </p:txBody>
      </p:sp>
      <p:sp>
        <p:nvSpPr>
          <p:cNvPr name="TextBox 30" id="30"/>
          <p:cNvSpPr txBox="true"/>
          <p:nvPr/>
        </p:nvSpPr>
        <p:spPr>
          <a:xfrm rot="0">
            <a:off x="1028700" y="3292427"/>
            <a:ext cx="9233524" cy="1627504"/>
          </a:xfrm>
          <a:prstGeom prst="rect">
            <a:avLst/>
          </a:prstGeom>
        </p:spPr>
        <p:txBody>
          <a:bodyPr anchor="t" rtlCol="false" tIns="0" lIns="0" bIns="0" rIns="0">
            <a:spAutoFit/>
          </a:bodyPr>
          <a:lstStyle/>
          <a:p>
            <a:pPr algn="l">
              <a:lnSpc>
                <a:spcPts val="12670"/>
              </a:lnSpc>
            </a:pPr>
            <a:r>
              <a:rPr lang="en-US" sz="9050" b="true">
                <a:solidFill>
                  <a:srgbClr val="2B4A9D"/>
                </a:solidFill>
                <a:latin typeface="Poppins Bold"/>
                <a:ea typeface="Poppins Bold"/>
                <a:cs typeface="Poppins Bold"/>
                <a:sym typeface="Poppins Bold"/>
              </a:rPr>
              <a:t>CV.AMANAH</a:t>
            </a:r>
          </a:p>
        </p:txBody>
      </p:sp>
      <p:sp>
        <p:nvSpPr>
          <p:cNvPr name="TextBox 31" id="31"/>
          <p:cNvSpPr txBox="true"/>
          <p:nvPr/>
        </p:nvSpPr>
        <p:spPr>
          <a:xfrm rot="0">
            <a:off x="1028700" y="6407332"/>
            <a:ext cx="7217475" cy="736872"/>
          </a:xfrm>
          <a:prstGeom prst="rect">
            <a:avLst/>
          </a:prstGeom>
        </p:spPr>
        <p:txBody>
          <a:bodyPr anchor="t" rtlCol="false" tIns="0" lIns="0" bIns="0" rIns="0">
            <a:spAutoFit/>
          </a:bodyPr>
          <a:lstStyle/>
          <a:p>
            <a:pPr algn="l">
              <a:lnSpc>
                <a:spcPts val="5768"/>
              </a:lnSpc>
            </a:pPr>
            <a:r>
              <a:rPr lang="en-US" sz="4120">
                <a:solidFill>
                  <a:srgbClr val="000000"/>
                </a:solidFill>
                <a:latin typeface="Poppins"/>
                <a:ea typeface="Poppins"/>
                <a:cs typeface="Poppins"/>
                <a:sym typeface="Poppins"/>
              </a:rPr>
              <a:t>DIBUAT OLEH KELOMPOK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549246">
            <a:off x="7868874" y="-2628058"/>
            <a:ext cx="1156392" cy="4250824"/>
            <a:chOff x="0" y="0"/>
            <a:chExt cx="304564" cy="1119558"/>
          </a:xfrm>
        </p:grpSpPr>
        <p:sp>
          <p:nvSpPr>
            <p:cNvPr name="Freeform 7" id="7"/>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8" id="8"/>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549246">
            <a:off x="1243998" y="8619543"/>
            <a:ext cx="1156392" cy="4250824"/>
            <a:chOff x="0" y="0"/>
            <a:chExt cx="304564" cy="1119558"/>
          </a:xfrm>
        </p:grpSpPr>
        <p:sp>
          <p:nvSpPr>
            <p:cNvPr name="Freeform 10" id="10"/>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5271FF"/>
            </a:solidFill>
          </p:spPr>
        </p:sp>
        <p:sp>
          <p:nvSpPr>
            <p:cNvPr name="TextBox 11" id="11"/>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549246">
            <a:off x="-202210" y="2586474"/>
            <a:ext cx="1156392" cy="5114052"/>
            <a:chOff x="0" y="0"/>
            <a:chExt cx="304564" cy="1346911"/>
          </a:xfrm>
        </p:grpSpPr>
        <p:sp>
          <p:nvSpPr>
            <p:cNvPr name="Freeform 13" id="13"/>
            <p:cNvSpPr/>
            <p:nvPr/>
          </p:nvSpPr>
          <p:spPr>
            <a:xfrm flipH="false" flipV="false" rot="0">
              <a:off x="0" y="0"/>
              <a:ext cx="304564" cy="1346911"/>
            </a:xfrm>
            <a:custGeom>
              <a:avLst/>
              <a:gdLst/>
              <a:ahLst/>
              <a:cxnLst/>
              <a:rect r="r" b="b" t="t" l="l"/>
              <a:pathLst>
                <a:path h="1346911" w="304564">
                  <a:moveTo>
                    <a:pt x="152282" y="0"/>
                  </a:moveTo>
                  <a:lnTo>
                    <a:pt x="152282" y="0"/>
                  </a:lnTo>
                  <a:cubicBezTo>
                    <a:pt x="192670" y="0"/>
                    <a:pt x="231403" y="16044"/>
                    <a:pt x="259962" y="44602"/>
                  </a:cubicBezTo>
                  <a:cubicBezTo>
                    <a:pt x="288520" y="73161"/>
                    <a:pt x="304564" y="111894"/>
                    <a:pt x="304564" y="152282"/>
                  </a:cubicBezTo>
                  <a:lnTo>
                    <a:pt x="304564" y="1194629"/>
                  </a:lnTo>
                  <a:cubicBezTo>
                    <a:pt x="304564" y="1235017"/>
                    <a:pt x="288520" y="1273750"/>
                    <a:pt x="259962" y="1302308"/>
                  </a:cubicBezTo>
                  <a:cubicBezTo>
                    <a:pt x="231403" y="1330867"/>
                    <a:pt x="192670" y="1346911"/>
                    <a:pt x="152282" y="1346911"/>
                  </a:cubicBezTo>
                  <a:lnTo>
                    <a:pt x="152282" y="1346911"/>
                  </a:lnTo>
                  <a:cubicBezTo>
                    <a:pt x="68179" y="1346911"/>
                    <a:pt x="0" y="1278732"/>
                    <a:pt x="0" y="1194629"/>
                  </a:cubicBezTo>
                  <a:lnTo>
                    <a:pt x="0" y="152282"/>
                  </a:lnTo>
                  <a:cubicBezTo>
                    <a:pt x="0" y="68179"/>
                    <a:pt x="68179" y="0"/>
                    <a:pt x="152282" y="0"/>
                  </a:cubicBezTo>
                  <a:close/>
                </a:path>
              </a:pathLst>
            </a:custGeom>
            <a:solidFill>
              <a:srgbClr val="2B4A9D"/>
            </a:solidFill>
          </p:spPr>
        </p:sp>
        <p:sp>
          <p:nvSpPr>
            <p:cNvPr name="TextBox 14" id="14"/>
            <p:cNvSpPr txBox="true"/>
            <p:nvPr/>
          </p:nvSpPr>
          <p:spPr>
            <a:xfrm>
              <a:off x="0" y="-57150"/>
              <a:ext cx="304564" cy="140406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796311">
            <a:off x="17168010" y="6566406"/>
            <a:ext cx="2239980" cy="8357096"/>
            <a:chOff x="0" y="0"/>
            <a:chExt cx="589953" cy="2201046"/>
          </a:xfrm>
        </p:grpSpPr>
        <p:sp>
          <p:nvSpPr>
            <p:cNvPr name="Freeform 16" id="16"/>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2B4A9D"/>
            </a:solidFill>
          </p:spPr>
        </p:sp>
        <p:sp>
          <p:nvSpPr>
            <p:cNvPr name="TextBox 17" id="17"/>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796311">
            <a:off x="14112080" y="-4254920"/>
            <a:ext cx="2239980" cy="8357096"/>
            <a:chOff x="0" y="0"/>
            <a:chExt cx="589953" cy="2201046"/>
          </a:xfrm>
        </p:grpSpPr>
        <p:sp>
          <p:nvSpPr>
            <p:cNvPr name="Freeform 19" id="19"/>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20" id="20"/>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178910" y="3998775"/>
            <a:ext cx="3768678"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Deskripsi</a:t>
            </a:r>
          </a:p>
        </p:txBody>
      </p:sp>
      <p:sp>
        <p:nvSpPr>
          <p:cNvPr name="TextBox 22" id="22"/>
          <p:cNvSpPr txBox="true"/>
          <p:nvPr/>
        </p:nvSpPr>
        <p:spPr>
          <a:xfrm rot="0">
            <a:off x="4178910" y="4804280"/>
            <a:ext cx="4710643"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Jenis Kendaraan</a:t>
            </a:r>
          </a:p>
        </p:txBody>
      </p:sp>
      <p:sp>
        <p:nvSpPr>
          <p:cNvPr name="TextBox 23" id="23"/>
          <p:cNvSpPr txBox="true"/>
          <p:nvPr/>
        </p:nvSpPr>
        <p:spPr>
          <a:xfrm rot="0">
            <a:off x="4178910" y="5613270"/>
            <a:ext cx="4965090"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Biaya Eksplisit</a:t>
            </a:r>
          </a:p>
        </p:txBody>
      </p:sp>
      <p:sp>
        <p:nvSpPr>
          <p:cNvPr name="TextBox 24" id="24"/>
          <p:cNvSpPr txBox="true"/>
          <p:nvPr/>
        </p:nvSpPr>
        <p:spPr>
          <a:xfrm rot="0">
            <a:off x="9144000" y="3998775"/>
            <a:ext cx="4965090"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Biaya Implisit</a:t>
            </a:r>
          </a:p>
        </p:txBody>
      </p:sp>
      <p:sp>
        <p:nvSpPr>
          <p:cNvPr name="TextBox 25" id="25"/>
          <p:cNvSpPr txBox="true"/>
          <p:nvPr/>
        </p:nvSpPr>
        <p:spPr>
          <a:xfrm rot="0">
            <a:off x="9144000" y="4807765"/>
            <a:ext cx="4965090"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Kesimpulan </a:t>
            </a:r>
          </a:p>
        </p:txBody>
      </p:sp>
      <p:sp>
        <p:nvSpPr>
          <p:cNvPr name="TextBox 26" id="26"/>
          <p:cNvSpPr txBox="true"/>
          <p:nvPr/>
        </p:nvSpPr>
        <p:spPr>
          <a:xfrm rot="0">
            <a:off x="9144000" y="5616755"/>
            <a:ext cx="4965090" cy="6184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Poppins"/>
                <a:ea typeface="Poppins"/>
                <a:cs typeface="Poppins"/>
                <a:sym typeface="Poppins"/>
              </a:rPr>
              <a:t>Penutup </a:t>
            </a:r>
          </a:p>
        </p:txBody>
      </p:sp>
      <p:sp>
        <p:nvSpPr>
          <p:cNvPr name="TextBox 27" id="27"/>
          <p:cNvSpPr txBox="true"/>
          <p:nvPr/>
        </p:nvSpPr>
        <p:spPr>
          <a:xfrm rot="0">
            <a:off x="5780285" y="2156006"/>
            <a:ext cx="6727431" cy="1652269"/>
          </a:xfrm>
          <a:prstGeom prst="rect">
            <a:avLst/>
          </a:prstGeom>
        </p:spPr>
        <p:txBody>
          <a:bodyPr anchor="t" rtlCol="false" tIns="0" lIns="0" bIns="0" rIns="0">
            <a:spAutoFit/>
          </a:bodyPr>
          <a:lstStyle/>
          <a:p>
            <a:pPr algn="ctr">
              <a:lnSpc>
                <a:spcPts val="12880"/>
              </a:lnSpc>
            </a:pPr>
            <a:r>
              <a:rPr lang="en-US" b="true" sz="9200">
                <a:solidFill>
                  <a:srgbClr val="2B4A9D"/>
                </a:solidFill>
                <a:latin typeface="Poppins Bold"/>
                <a:ea typeface="Poppins Bold"/>
                <a:cs typeface="Poppins Bold"/>
                <a:sym typeface="Poppins Bold"/>
              </a:rPr>
              <a:t>DAFTAR ISI</a:t>
            </a:r>
          </a:p>
        </p:txBody>
      </p:sp>
      <p:grpSp>
        <p:nvGrpSpPr>
          <p:cNvPr name="Group 28" id="28"/>
          <p:cNvGrpSpPr/>
          <p:nvPr/>
        </p:nvGrpSpPr>
        <p:grpSpPr>
          <a:xfrm rot="-1549246">
            <a:off x="8311357" y="8930300"/>
            <a:ext cx="1156392" cy="4250824"/>
            <a:chOff x="0" y="0"/>
            <a:chExt cx="304564" cy="1119558"/>
          </a:xfrm>
        </p:grpSpPr>
        <p:sp>
          <p:nvSpPr>
            <p:cNvPr name="Freeform 29" id="29"/>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30" id="30"/>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549246">
            <a:off x="3823888" y="-1836038"/>
            <a:ext cx="1156392" cy="12187444"/>
            <a:chOff x="0" y="0"/>
            <a:chExt cx="304564" cy="3209862"/>
          </a:xfrm>
        </p:grpSpPr>
        <p:sp>
          <p:nvSpPr>
            <p:cNvPr name="Freeform 3" id="3"/>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4" id="4"/>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549246">
            <a:off x="6767380" y="-109269"/>
            <a:ext cx="1156392" cy="12187444"/>
            <a:chOff x="0" y="0"/>
            <a:chExt cx="304564" cy="3209862"/>
          </a:xfrm>
        </p:grpSpPr>
        <p:sp>
          <p:nvSpPr>
            <p:cNvPr name="Freeform 6" id="6"/>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7" id="7"/>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1861801"/>
            <a:ext cx="15274330" cy="7197190"/>
            <a:chOff x="0" y="0"/>
            <a:chExt cx="4022869" cy="1895556"/>
          </a:xfrm>
        </p:grpSpPr>
        <p:sp>
          <p:nvSpPr>
            <p:cNvPr name="Freeform 9" id="9"/>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E2E2E2"/>
            </a:solidFill>
          </p:spPr>
        </p:sp>
        <p:sp>
          <p:nvSpPr>
            <p:cNvPr name="TextBox 10" id="10"/>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6835" y="1544905"/>
            <a:ext cx="15274330" cy="7197190"/>
            <a:chOff x="0" y="0"/>
            <a:chExt cx="4022869" cy="1895556"/>
          </a:xfrm>
        </p:grpSpPr>
        <p:sp>
          <p:nvSpPr>
            <p:cNvPr name="Freeform 12" id="12"/>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2B4A9D"/>
            </a:solidFill>
          </p:spPr>
        </p:sp>
        <p:sp>
          <p:nvSpPr>
            <p:cNvPr name="TextBox 13" id="13"/>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796311">
            <a:off x="17168010" y="7246436"/>
            <a:ext cx="2239980" cy="8357096"/>
            <a:chOff x="0" y="0"/>
            <a:chExt cx="589953" cy="2201046"/>
          </a:xfrm>
        </p:grpSpPr>
        <p:sp>
          <p:nvSpPr>
            <p:cNvPr name="Freeform 15" id="15"/>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16" id="16"/>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796311">
            <a:off x="15460419" y="-2784700"/>
            <a:ext cx="2239980" cy="4379762"/>
            <a:chOff x="0" y="0"/>
            <a:chExt cx="589953" cy="1153518"/>
          </a:xfrm>
        </p:grpSpPr>
        <p:sp>
          <p:nvSpPr>
            <p:cNvPr name="Freeform 18" id="18"/>
            <p:cNvSpPr/>
            <p:nvPr/>
          </p:nvSpPr>
          <p:spPr>
            <a:xfrm flipH="false" flipV="false" rot="0">
              <a:off x="0" y="0"/>
              <a:ext cx="589953" cy="1153518"/>
            </a:xfrm>
            <a:custGeom>
              <a:avLst/>
              <a:gdLst/>
              <a:ahLst/>
              <a:cxnLst/>
              <a:rect r="r" b="b" t="t" l="l"/>
              <a:pathLst>
                <a:path h="1153518" w="589953">
                  <a:moveTo>
                    <a:pt x="294977" y="0"/>
                  </a:moveTo>
                  <a:lnTo>
                    <a:pt x="294977" y="0"/>
                  </a:lnTo>
                  <a:cubicBezTo>
                    <a:pt x="457888" y="0"/>
                    <a:pt x="589953" y="132066"/>
                    <a:pt x="589953" y="294977"/>
                  </a:cubicBezTo>
                  <a:lnTo>
                    <a:pt x="589953" y="858541"/>
                  </a:lnTo>
                  <a:cubicBezTo>
                    <a:pt x="589953" y="1021452"/>
                    <a:pt x="457888" y="1153518"/>
                    <a:pt x="294977" y="1153518"/>
                  </a:cubicBezTo>
                  <a:lnTo>
                    <a:pt x="294977" y="1153518"/>
                  </a:lnTo>
                  <a:cubicBezTo>
                    <a:pt x="132066" y="1153518"/>
                    <a:pt x="0" y="1021452"/>
                    <a:pt x="0" y="858541"/>
                  </a:cubicBezTo>
                  <a:lnTo>
                    <a:pt x="0" y="294977"/>
                  </a:lnTo>
                  <a:cubicBezTo>
                    <a:pt x="0" y="132066"/>
                    <a:pt x="132066" y="0"/>
                    <a:pt x="294977" y="0"/>
                  </a:cubicBezTo>
                  <a:close/>
                </a:path>
              </a:pathLst>
            </a:custGeom>
            <a:solidFill>
              <a:srgbClr val="2B4A9D"/>
            </a:solidFill>
          </p:spPr>
        </p:sp>
        <p:sp>
          <p:nvSpPr>
            <p:cNvPr name="TextBox 19" id="19"/>
            <p:cNvSpPr txBox="true"/>
            <p:nvPr/>
          </p:nvSpPr>
          <p:spPr>
            <a:xfrm>
              <a:off x="0" y="-57150"/>
              <a:ext cx="589953" cy="121066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1549246">
            <a:off x="426585" y="8882918"/>
            <a:ext cx="1156392" cy="2223868"/>
            <a:chOff x="0" y="0"/>
            <a:chExt cx="304564" cy="585710"/>
          </a:xfrm>
        </p:grpSpPr>
        <p:sp>
          <p:nvSpPr>
            <p:cNvPr name="Freeform 21" id="21"/>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2" id="22"/>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1549246">
            <a:off x="9194643" y="-1111934"/>
            <a:ext cx="1156392" cy="2223868"/>
            <a:chOff x="0" y="0"/>
            <a:chExt cx="304564" cy="585710"/>
          </a:xfrm>
        </p:grpSpPr>
        <p:sp>
          <p:nvSpPr>
            <p:cNvPr name="Freeform 24" id="24"/>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5" id="25"/>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771037" y="1680826"/>
            <a:ext cx="11461033" cy="1095375"/>
          </a:xfrm>
          <a:prstGeom prst="rect">
            <a:avLst/>
          </a:prstGeom>
        </p:spPr>
        <p:txBody>
          <a:bodyPr anchor="t" rtlCol="false" tIns="0" lIns="0" bIns="0" rIns="0">
            <a:spAutoFit/>
          </a:bodyPr>
          <a:lstStyle/>
          <a:p>
            <a:pPr algn="ctr">
              <a:lnSpc>
                <a:spcPts val="8400"/>
              </a:lnSpc>
            </a:pPr>
            <a:r>
              <a:rPr lang="en-US" b="true" sz="6000">
                <a:solidFill>
                  <a:srgbClr val="FFFFFF"/>
                </a:solidFill>
                <a:latin typeface="Poppins Bold"/>
                <a:ea typeface="Poppins Bold"/>
                <a:cs typeface="Poppins Bold"/>
                <a:sym typeface="Poppins Bold"/>
              </a:rPr>
              <a:t>DESKRIPSI PERUSAHAAN(CV)</a:t>
            </a:r>
          </a:p>
        </p:txBody>
      </p:sp>
      <p:sp>
        <p:nvSpPr>
          <p:cNvPr name="TextBox 27" id="27"/>
          <p:cNvSpPr txBox="true"/>
          <p:nvPr/>
        </p:nvSpPr>
        <p:spPr>
          <a:xfrm rot="0">
            <a:off x="2344607" y="2739737"/>
            <a:ext cx="13598786" cy="3209925"/>
          </a:xfrm>
          <a:prstGeom prst="rect">
            <a:avLst/>
          </a:prstGeom>
        </p:spPr>
        <p:txBody>
          <a:bodyPr anchor="t" rtlCol="false" tIns="0" lIns="0" bIns="0" rIns="0">
            <a:spAutoFit/>
          </a:bodyPr>
          <a:lstStyle/>
          <a:p>
            <a:pPr algn="ctr">
              <a:lnSpc>
                <a:spcPts val="4200"/>
              </a:lnSpc>
            </a:pPr>
            <a:r>
              <a:rPr lang="en-US" sz="3000">
                <a:solidFill>
                  <a:srgbClr val="FFFFFF"/>
                </a:solidFill>
                <a:latin typeface="Poppins"/>
                <a:ea typeface="Poppins"/>
                <a:cs typeface="Poppins"/>
                <a:sym typeface="Poppins"/>
              </a:rPr>
              <a:t>CV. Amanah Transportindo merupakan perusahaan yang bergerak di bidang jasa penyewaan kendaraan, melayani kebutuhan transportasi individu maupun korporasi. Kami menyediakan berbagai jenis kendaraan, mulai dari mobil penumpang, Sepeda Motor,kendaraan operasional, hingga bus pariwisata, yang seluruhnya terawat dengan baik dan dalam kondisi optimal.</a:t>
            </a:r>
          </a:p>
        </p:txBody>
      </p:sp>
      <p:sp>
        <p:nvSpPr>
          <p:cNvPr name="TextBox 28" id="28"/>
          <p:cNvSpPr txBox="true"/>
          <p:nvPr/>
        </p:nvSpPr>
        <p:spPr>
          <a:xfrm rot="0">
            <a:off x="2344607" y="5911562"/>
            <a:ext cx="13598786" cy="2676525"/>
          </a:xfrm>
          <a:prstGeom prst="rect">
            <a:avLst/>
          </a:prstGeom>
        </p:spPr>
        <p:txBody>
          <a:bodyPr anchor="t" rtlCol="false" tIns="0" lIns="0" bIns="0" rIns="0">
            <a:spAutoFit/>
          </a:bodyPr>
          <a:lstStyle/>
          <a:p>
            <a:pPr algn="ctr">
              <a:lnSpc>
                <a:spcPts val="4200"/>
              </a:lnSpc>
            </a:pPr>
            <a:r>
              <a:rPr lang="en-US" sz="3000">
                <a:solidFill>
                  <a:srgbClr val="FFFFFF"/>
                </a:solidFill>
                <a:latin typeface="Poppins"/>
                <a:ea typeface="Poppins"/>
                <a:cs typeface="Poppins"/>
                <a:sym typeface="Poppins"/>
              </a:rPr>
              <a:t>Dengan didukung oleh tim profesional dan layanan pelanggan yang responsif, CV. Amanah Transportindo berkomitmen untuk memberikan layanan transportasi yang aman, nyaman, dan tepat waktu. Kami senantiasa mengedepankan kualitas pelayanan dan kepuasan pelanggan dalam setiap perjalanan.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549246">
            <a:off x="3823888" y="-1836038"/>
            <a:ext cx="1156392" cy="12187444"/>
            <a:chOff x="0" y="0"/>
            <a:chExt cx="304564" cy="3209862"/>
          </a:xfrm>
        </p:grpSpPr>
        <p:sp>
          <p:nvSpPr>
            <p:cNvPr name="Freeform 3" id="3"/>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4" id="4"/>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549246">
            <a:off x="6767380" y="-109269"/>
            <a:ext cx="1156392" cy="12187444"/>
            <a:chOff x="0" y="0"/>
            <a:chExt cx="304564" cy="3209862"/>
          </a:xfrm>
        </p:grpSpPr>
        <p:sp>
          <p:nvSpPr>
            <p:cNvPr name="Freeform 6" id="6"/>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7" id="7"/>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1861801"/>
            <a:ext cx="15274330" cy="7197190"/>
            <a:chOff x="0" y="0"/>
            <a:chExt cx="4022869" cy="1895556"/>
          </a:xfrm>
        </p:grpSpPr>
        <p:sp>
          <p:nvSpPr>
            <p:cNvPr name="Freeform 9" id="9"/>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E2E2E2"/>
            </a:solidFill>
          </p:spPr>
        </p:sp>
        <p:sp>
          <p:nvSpPr>
            <p:cNvPr name="TextBox 10" id="10"/>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6835" y="1544905"/>
            <a:ext cx="15274330" cy="7197190"/>
            <a:chOff x="0" y="0"/>
            <a:chExt cx="4022869" cy="1895556"/>
          </a:xfrm>
        </p:grpSpPr>
        <p:sp>
          <p:nvSpPr>
            <p:cNvPr name="Freeform 12" id="12"/>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2B4A9D"/>
            </a:solidFill>
          </p:spPr>
        </p:sp>
        <p:sp>
          <p:nvSpPr>
            <p:cNvPr name="TextBox 13" id="13"/>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796311">
            <a:off x="17168010" y="7246436"/>
            <a:ext cx="2239980" cy="8357096"/>
            <a:chOff x="0" y="0"/>
            <a:chExt cx="589953" cy="2201046"/>
          </a:xfrm>
        </p:grpSpPr>
        <p:sp>
          <p:nvSpPr>
            <p:cNvPr name="Freeform 15" id="15"/>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16" id="16"/>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796311">
            <a:off x="15460419" y="-2784700"/>
            <a:ext cx="2239980" cy="4379762"/>
            <a:chOff x="0" y="0"/>
            <a:chExt cx="589953" cy="1153518"/>
          </a:xfrm>
        </p:grpSpPr>
        <p:sp>
          <p:nvSpPr>
            <p:cNvPr name="Freeform 18" id="18"/>
            <p:cNvSpPr/>
            <p:nvPr/>
          </p:nvSpPr>
          <p:spPr>
            <a:xfrm flipH="false" flipV="false" rot="0">
              <a:off x="0" y="0"/>
              <a:ext cx="589953" cy="1153518"/>
            </a:xfrm>
            <a:custGeom>
              <a:avLst/>
              <a:gdLst/>
              <a:ahLst/>
              <a:cxnLst/>
              <a:rect r="r" b="b" t="t" l="l"/>
              <a:pathLst>
                <a:path h="1153518" w="589953">
                  <a:moveTo>
                    <a:pt x="294977" y="0"/>
                  </a:moveTo>
                  <a:lnTo>
                    <a:pt x="294977" y="0"/>
                  </a:lnTo>
                  <a:cubicBezTo>
                    <a:pt x="457888" y="0"/>
                    <a:pt x="589953" y="132066"/>
                    <a:pt x="589953" y="294977"/>
                  </a:cubicBezTo>
                  <a:lnTo>
                    <a:pt x="589953" y="858541"/>
                  </a:lnTo>
                  <a:cubicBezTo>
                    <a:pt x="589953" y="1021452"/>
                    <a:pt x="457888" y="1153518"/>
                    <a:pt x="294977" y="1153518"/>
                  </a:cubicBezTo>
                  <a:lnTo>
                    <a:pt x="294977" y="1153518"/>
                  </a:lnTo>
                  <a:cubicBezTo>
                    <a:pt x="132066" y="1153518"/>
                    <a:pt x="0" y="1021452"/>
                    <a:pt x="0" y="858541"/>
                  </a:cubicBezTo>
                  <a:lnTo>
                    <a:pt x="0" y="294977"/>
                  </a:lnTo>
                  <a:cubicBezTo>
                    <a:pt x="0" y="132066"/>
                    <a:pt x="132066" y="0"/>
                    <a:pt x="294977" y="0"/>
                  </a:cubicBezTo>
                  <a:close/>
                </a:path>
              </a:pathLst>
            </a:custGeom>
            <a:solidFill>
              <a:srgbClr val="2B4A9D"/>
            </a:solidFill>
          </p:spPr>
        </p:sp>
        <p:sp>
          <p:nvSpPr>
            <p:cNvPr name="TextBox 19" id="19"/>
            <p:cNvSpPr txBox="true"/>
            <p:nvPr/>
          </p:nvSpPr>
          <p:spPr>
            <a:xfrm>
              <a:off x="0" y="-57150"/>
              <a:ext cx="589953" cy="121066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1549246">
            <a:off x="426585" y="8882918"/>
            <a:ext cx="1156392" cy="2223868"/>
            <a:chOff x="0" y="0"/>
            <a:chExt cx="304564" cy="585710"/>
          </a:xfrm>
        </p:grpSpPr>
        <p:sp>
          <p:nvSpPr>
            <p:cNvPr name="Freeform 21" id="21"/>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2" id="22"/>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1549246">
            <a:off x="9194643" y="-1111934"/>
            <a:ext cx="1156392" cy="2223868"/>
            <a:chOff x="0" y="0"/>
            <a:chExt cx="304564" cy="585710"/>
          </a:xfrm>
        </p:grpSpPr>
        <p:sp>
          <p:nvSpPr>
            <p:cNvPr name="Freeform 24" id="24"/>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5" id="25"/>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2527494" y="3098196"/>
            <a:ext cx="3749181" cy="5216484"/>
            <a:chOff x="0" y="0"/>
            <a:chExt cx="987439" cy="1373889"/>
          </a:xfrm>
        </p:grpSpPr>
        <p:sp>
          <p:nvSpPr>
            <p:cNvPr name="Freeform 27" id="27"/>
            <p:cNvSpPr/>
            <p:nvPr/>
          </p:nvSpPr>
          <p:spPr>
            <a:xfrm flipH="false" flipV="false" rot="0">
              <a:off x="0" y="0"/>
              <a:ext cx="987439" cy="1373889"/>
            </a:xfrm>
            <a:custGeom>
              <a:avLst/>
              <a:gdLst/>
              <a:ahLst/>
              <a:cxnLst/>
              <a:rect r="r" b="b" t="t" l="l"/>
              <a:pathLst>
                <a:path h="1373889" w="987439">
                  <a:moveTo>
                    <a:pt x="206496" y="0"/>
                  </a:moveTo>
                  <a:lnTo>
                    <a:pt x="780942" y="0"/>
                  </a:lnTo>
                  <a:cubicBezTo>
                    <a:pt x="894987" y="0"/>
                    <a:pt x="987439" y="92452"/>
                    <a:pt x="987439" y="206496"/>
                  </a:cubicBezTo>
                  <a:lnTo>
                    <a:pt x="987439" y="1167393"/>
                  </a:lnTo>
                  <a:cubicBezTo>
                    <a:pt x="987439" y="1222159"/>
                    <a:pt x="965683" y="1274682"/>
                    <a:pt x="926957" y="1313408"/>
                  </a:cubicBezTo>
                  <a:cubicBezTo>
                    <a:pt x="888232" y="1352133"/>
                    <a:pt x="835709" y="1373889"/>
                    <a:pt x="780942" y="1373889"/>
                  </a:cubicBezTo>
                  <a:lnTo>
                    <a:pt x="206496" y="1373889"/>
                  </a:lnTo>
                  <a:cubicBezTo>
                    <a:pt x="151730" y="1373889"/>
                    <a:pt x="99207" y="1352133"/>
                    <a:pt x="60481" y="1313408"/>
                  </a:cubicBezTo>
                  <a:cubicBezTo>
                    <a:pt x="21756" y="1274682"/>
                    <a:pt x="0" y="1222159"/>
                    <a:pt x="0" y="1167393"/>
                  </a:cubicBezTo>
                  <a:lnTo>
                    <a:pt x="0" y="206496"/>
                  </a:lnTo>
                  <a:cubicBezTo>
                    <a:pt x="0" y="151730"/>
                    <a:pt x="21756" y="99207"/>
                    <a:pt x="60481" y="60481"/>
                  </a:cubicBezTo>
                  <a:cubicBezTo>
                    <a:pt x="99207" y="21756"/>
                    <a:pt x="151730" y="0"/>
                    <a:pt x="206496" y="0"/>
                  </a:cubicBezTo>
                  <a:close/>
                </a:path>
              </a:pathLst>
            </a:custGeom>
            <a:solidFill>
              <a:srgbClr val="5271FF"/>
            </a:solidFill>
          </p:spPr>
        </p:sp>
        <p:sp>
          <p:nvSpPr>
            <p:cNvPr name="TextBox 28" id="28"/>
            <p:cNvSpPr txBox="true"/>
            <p:nvPr/>
          </p:nvSpPr>
          <p:spPr>
            <a:xfrm>
              <a:off x="0" y="-57150"/>
              <a:ext cx="987439" cy="1431039"/>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2673061" y="3230424"/>
            <a:ext cx="3458047" cy="4952029"/>
            <a:chOff x="0" y="0"/>
            <a:chExt cx="4610729" cy="6602705"/>
          </a:xfrm>
        </p:grpSpPr>
        <p:pic>
          <p:nvPicPr>
            <p:cNvPr name="Picture 30" id="30"/>
            <p:cNvPicPr>
              <a:picLocks noChangeAspect="true"/>
            </p:cNvPicPr>
            <p:nvPr/>
          </p:nvPicPr>
          <p:blipFill>
            <a:blip r:embed="rId2"/>
            <a:srcRect l="29313" t="0" r="29313" b="0"/>
            <a:stretch>
              <a:fillRect/>
            </a:stretch>
          </p:blipFill>
          <p:spPr>
            <a:xfrm flipH="false" flipV="false">
              <a:off x="0" y="0"/>
              <a:ext cx="4610729" cy="6602705"/>
            </a:xfrm>
            <a:prstGeom prst="rect">
              <a:avLst/>
            </a:prstGeom>
          </p:spPr>
        </p:pic>
      </p:grpSp>
      <p:sp>
        <p:nvSpPr>
          <p:cNvPr name="TextBox 31" id="31"/>
          <p:cNvSpPr txBox="true"/>
          <p:nvPr/>
        </p:nvSpPr>
        <p:spPr>
          <a:xfrm rot="0">
            <a:off x="3771037" y="1680826"/>
            <a:ext cx="10745927" cy="1095375"/>
          </a:xfrm>
          <a:prstGeom prst="rect">
            <a:avLst/>
          </a:prstGeom>
        </p:spPr>
        <p:txBody>
          <a:bodyPr anchor="t" rtlCol="false" tIns="0" lIns="0" bIns="0" rIns="0">
            <a:spAutoFit/>
          </a:bodyPr>
          <a:lstStyle/>
          <a:p>
            <a:pPr algn="ctr">
              <a:lnSpc>
                <a:spcPts val="8400"/>
              </a:lnSpc>
            </a:pPr>
            <a:r>
              <a:rPr lang="en-US" b="true" sz="6000">
                <a:solidFill>
                  <a:srgbClr val="FFFFFF"/>
                </a:solidFill>
                <a:latin typeface="Poppins Bold"/>
                <a:ea typeface="Poppins Bold"/>
                <a:cs typeface="Poppins Bold"/>
                <a:sym typeface="Poppins Bold"/>
              </a:rPr>
              <a:t>JENIS JENIS KENDARAAN</a:t>
            </a:r>
          </a:p>
        </p:txBody>
      </p:sp>
      <p:sp>
        <p:nvSpPr>
          <p:cNvPr name="TextBox 32" id="32"/>
          <p:cNvSpPr txBox="true"/>
          <p:nvPr/>
        </p:nvSpPr>
        <p:spPr>
          <a:xfrm rot="0">
            <a:off x="7104687" y="2880670"/>
            <a:ext cx="8908254" cy="5956002"/>
          </a:xfrm>
          <a:prstGeom prst="rect">
            <a:avLst/>
          </a:prstGeom>
        </p:spPr>
        <p:txBody>
          <a:bodyPr anchor="t" rtlCol="false" tIns="0" lIns="0" bIns="0" rIns="0">
            <a:spAutoFit/>
          </a:bodyPr>
          <a:lstStyle/>
          <a:p>
            <a:pPr algn="l" marL="433122" indent="-216561" lvl="1">
              <a:lnSpc>
                <a:spcPts val="2808"/>
              </a:lnSpc>
              <a:buAutoNum type="arabicPeriod" startAt="1"/>
            </a:pPr>
            <a:r>
              <a:rPr lang="en-US" sz="2006">
                <a:solidFill>
                  <a:srgbClr val="FFFFFF"/>
                </a:solidFill>
                <a:latin typeface="Poppins"/>
                <a:ea typeface="Poppins"/>
                <a:cs typeface="Poppins"/>
                <a:sym typeface="Poppins"/>
              </a:rPr>
              <a:t>*Mobil Penumpang*</a:t>
            </a:r>
          </a:p>
          <a:p>
            <a:pPr algn="l">
              <a:lnSpc>
                <a:spcPts val="1905"/>
              </a:lnSpc>
            </a:pPr>
            <a:r>
              <a:rPr lang="en-US" sz="1361">
                <a:solidFill>
                  <a:srgbClr val="FFFFFF"/>
                </a:solidFill>
                <a:latin typeface="Poppins"/>
                <a:ea typeface="Poppins"/>
                <a:cs typeface="Poppins"/>
                <a:sym typeface="Poppins"/>
              </a:rPr>
              <a:t>        - Toyota Avanza / Daihatsu Xenia (mobil keluarga)</a:t>
            </a:r>
          </a:p>
          <a:p>
            <a:pPr algn="l">
              <a:lnSpc>
                <a:spcPts val="1905"/>
              </a:lnSpc>
            </a:pPr>
            <a:r>
              <a:rPr lang="en-US" sz="1361">
                <a:solidFill>
                  <a:srgbClr val="FFFFFF"/>
                </a:solidFill>
                <a:latin typeface="Poppins"/>
                <a:ea typeface="Poppins"/>
                <a:cs typeface="Poppins"/>
                <a:sym typeface="Poppins"/>
              </a:rPr>
              <a:t>        - Honda Brio / Toyota Agya (city car)</a:t>
            </a:r>
          </a:p>
          <a:p>
            <a:pPr algn="l">
              <a:lnSpc>
                <a:spcPts val="1905"/>
              </a:lnSpc>
            </a:pPr>
            <a:r>
              <a:rPr lang="en-US" sz="1361">
                <a:solidFill>
                  <a:srgbClr val="FFFFFF"/>
                </a:solidFill>
                <a:latin typeface="Poppins"/>
                <a:ea typeface="Poppins"/>
                <a:cs typeface="Poppins"/>
                <a:sym typeface="Poppins"/>
              </a:rPr>
              <a:t>        - Toyota Innova (kelas menengah)</a:t>
            </a:r>
          </a:p>
          <a:p>
            <a:pPr algn="l">
              <a:lnSpc>
                <a:spcPts val="1905"/>
              </a:lnSpc>
            </a:pPr>
            <a:r>
              <a:rPr lang="en-US" sz="1361">
                <a:solidFill>
                  <a:srgbClr val="FFFFFF"/>
                </a:solidFill>
                <a:latin typeface="Poppins"/>
                <a:ea typeface="Poppins"/>
                <a:cs typeface="Poppins"/>
                <a:sym typeface="Poppins"/>
              </a:rPr>
              <a:t>        - Toyota Alphard /  Vellfire (kelas premium)</a:t>
            </a:r>
          </a:p>
          <a:p>
            <a:pPr algn="l">
              <a:lnSpc>
                <a:spcPts val="1905"/>
              </a:lnSpc>
            </a:pPr>
          </a:p>
          <a:p>
            <a:pPr algn="l">
              <a:lnSpc>
                <a:spcPts val="1905"/>
              </a:lnSpc>
            </a:pPr>
            <a:r>
              <a:rPr lang="en-US" sz="1361">
                <a:solidFill>
                  <a:srgbClr val="FFFFFF"/>
                </a:solidFill>
                <a:latin typeface="Poppins"/>
                <a:ea typeface="Poppins"/>
                <a:cs typeface="Poppins"/>
                <a:sym typeface="Poppins"/>
              </a:rPr>
              <a:t>      2. *Mobil Operasional / Perusahaan*</a:t>
            </a:r>
          </a:p>
          <a:p>
            <a:pPr algn="l">
              <a:lnSpc>
                <a:spcPts val="1905"/>
              </a:lnSpc>
            </a:pPr>
            <a:r>
              <a:rPr lang="en-US" sz="1361">
                <a:solidFill>
                  <a:srgbClr val="FFFFFF"/>
                </a:solidFill>
                <a:latin typeface="Poppins"/>
                <a:ea typeface="Poppins"/>
                <a:cs typeface="Poppins"/>
                <a:sym typeface="Poppins"/>
              </a:rPr>
              <a:t>        - Mitsubishi L300 /Grand Max (angkut barang ringan)</a:t>
            </a:r>
          </a:p>
          <a:p>
            <a:pPr algn="l">
              <a:lnSpc>
                <a:spcPts val="1905"/>
              </a:lnSpc>
            </a:pPr>
            <a:r>
              <a:rPr lang="en-US" sz="1361">
                <a:solidFill>
                  <a:srgbClr val="FFFFFF"/>
                </a:solidFill>
                <a:latin typeface="Poppins"/>
                <a:ea typeface="Poppins"/>
                <a:cs typeface="Poppins"/>
                <a:sym typeface="Poppins"/>
              </a:rPr>
              <a:t>        - Pickup kecil (untuk UMKM)</a:t>
            </a:r>
          </a:p>
          <a:p>
            <a:pPr algn="l">
              <a:lnSpc>
                <a:spcPts val="1905"/>
              </a:lnSpc>
            </a:pPr>
            <a:r>
              <a:rPr lang="en-US" sz="1361">
                <a:solidFill>
                  <a:srgbClr val="FFFFFF"/>
                </a:solidFill>
                <a:latin typeface="Poppins"/>
                <a:ea typeface="Poppins"/>
                <a:cs typeface="Poppins"/>
                <a:sym typeface="Poppins"/>
              </a:rPr>
              <a:t>        - MPV untuk antar jemput karyawan</a:t>
            </a:r>
          </a:p>
          <a:p>
            <a:pPr algn="l">
              <a:lnSpc>
                <a:spcPts val="1905"/>
              </a:lnSpc>
            </a:pPr>
          </a:p>
          <a:p>
            <a:pPr algn="l">
              <a:lnSpc>
                <a:spcPts val="1905"/>
              </a:lnSpc>
            </a:pPr>
            <a:r>
              <a:rPr lang="en-US" sz="1361">
                <a:solidFill>
                  <a:srgbClr val="FFFFFF"/>
                </a:solidFill>
                <a:latin typeface="Poppins"/>
                <a:ea typeface="Poppins"/>
                <a:cs typeface="Poppins"/>
                <a:sym typeface="Poppins"/>
              </a:rPr>
              <a:t>      3. *Kendaraan Pariwisata*</a:t>
            </a:r>
          </a:p>
          <a:p>
            <a:pPr algn="l">
              <a:lnSpc>
                <a:spcPts val="1905"/>
              </a:lnSpc>
            </a:pPr>
            <a:r>
              <a:rPr lang="en-US" sz="1361">
                <a:solidFill>
                  <a:srgbClr val="FFFFFF"/>
                </a:solidFill>
                <a:latin typeface="Poppins"/>
                <a:ea typeface="Poppins"/>
                <a:cs typeface="Poppins"/>
                <a:sym typeface="Poppins"/>
              </a:rPr>
              <a:t>         - Minibus (Elf, HiAce)</a:t>
            </a:r>
          </a:p>
          <a:p>
            <a:pPr algn="l">
              <a:lnSpc>
                <a:spcPts val="1905"/>
              </a:lnSpc>
            </a:pPr>
            <a:r>
              <a:rPr lang="en-US" sz="1361">
                <a:solidFill>
                  <a:srgbClr val="FFFFFF"/>
                </a:solidFill>
                <a:latin typeface="Poppins"/>
                <a:ea typeface="Poppins"/>
                <a:cs typeface="Poppins"/>
                <a:sym typeface="Poppins"/>
              </a:rPr>
              <a:t>         - Medium Bus (30-35 seat)</a:t>
            </a:r>
          </a:p>
          <a:p>
            <a:pPr algn="l">
              <a:lnSpc>
                <a:spcPts val="1905"/>
              </a:lnSpc>
            </a:pPr>
            <a:r>
              <a:rPr lang="en-US" sz="1361">
                <a:solidFill>
                  <a:srgbClr val="FFFFFF"/>
                </a:solidFill>
                <a:latin typeface="Poppins"/>
                <a:ea typeface="Poppins"/>
                <a:cs typeface="Poppins"/>
                <a:sym typeface="Poppins"/>
              </a:rPr>
              <a:t>         - Big Bus (45-50 seat)</a:t>
            </a:r>
          </a:p>
          <a:p>
            <a:pPr algn="l">
              <a:lnSpc>
                <a:spcPts val="1905"/>
              </a:lnSpc>
            </a:pPr>
          </a:p>
          <a:p>
            <a:pPr algn="l">
              <a:lnSpc>
                <a:spcPts val="1905"/>
              </a:lnSpc>
            </a:pPr>
            <a:r>
              <a:rPr lang="en-US" sz="1361">
                <a:solidFill>
                  <a:srgbClr val="FFFFFF"/>
                </a:solidFill>
                <a:latin typeface="Poppins"/>
                <a:ea typeface="Poppins"/>
                <a:cs typeface="Poppins"/>
                <a:sym typeface="Poppins"/>
              </a:rPr>
              <a:t>      4. *Motor (optional)*</a:t>
            </a:r>
          </a:p>
          <a:p>
            <a:pPr algn="l">
              <a:lnSpc>
                <a:spcPts val="1905"/>
              </a:lnSpc>
            </a:pPr>
            <a:r>
              <a:rPr lang="en-US" sz="1361">
                <a:solidFill>
                  <a:srgbClr val="FFFFFF"/>
                </a:solidFill>
                <a:latin typeface="Poppins"/>
                <a:ea typeface="Poppins"/>
                <a:cs typeface="Poppins"/>
                <a:sym typeface="Poppins"/>
              </a:rPr>
              <a:t>        - Untuk layanan kurir atau sewa harian</a:t>
            </a:r>
          </a:p>
          <a:p>
            <a:pPr algn="l">
              <a:lnSpc>
                <a:spcPts val="1905"/>
              </a:lnSpc>
            </a:pPr>
          </a:p>
          <a:p>
            <a:pPr algn="l">
              <a:lnSpc>
                <a:spcPts val="1905"/>
              </a:lnSpc>
            </a:pPr>
            <a:r>
              <a:rPr lang="en-US" sz="1361">
                <a:solidFill>
                  <a:srgbClr val="FFFFFF"/>
                </a:solidFill>
                <a:latin typeface="Poppins"/>
                <a:ea typeface="Poppins"/>
                <a:cs typeface="Poppins"/>
                <a:sym typeface="Poppins"/>
              </a:rPr>
              <a:t>      Jenis kendaraan bisa disesuaikan dengan segmentasi pasar;</a:t>
            </a:r>
          </a:p>
          <a:p>
            <a:pPr algn="l">
              <a:lnSpc>
                <a:spcPts val="1905"/>
              </a:lnSpc>
            </a:pPr>
            <a:r>
              <a:rPr lang="en-US" sz="1361">
                <a:solidFill>
                  <a:srgbClr val="FFFFFF"/>
                </a:solidFill>
                <a:latin typeface="Poppins"/>
                <a:ea typeface="Poppins"/>
                <a:cs typeface="Poppins"/>
                <a:sym typeface="Poppins"/>
              </a:rPr>
              <a:t>        - Peroranggan/family → mobil kecil &amp; menengah</a:t>
            </a:r>
          </a:p>
          <a:p>
            <a:pPr algn="l">
              <a:lnSpc>
                <a:spcPts val="1905"/>
              </a:lnSpc>
            </a:pPr>
            <a:r>
              <a:rPr lang="en-US" sz="1361">
                <a:solidFill>
                  <a:srgbClr val="FFFFFF"/>
                </a:solidFill>
                <a:latin typeface="Poppins"/>
                <a:ea typeface="Poppins"/>
                <a:cs typeface="Poppins"/>
                <a:sym typeface="Poppins"/>
              </a:rPr>
              <a:t>        - Peusahaan → kendaraan operasional</a:t>
            </a:r>
          </a:p>
          <a:p>
            <a:pPr algn="l">
              <a:lnSpc>
                <a:spcPts val="1905"/>
              </a:lnSpc>
            </a:pPr>
            <a:r>
              <a:rPr lang="en-US" sz="1361">
                <a:solidFill>
                  <a:srgbClr val="FFFFFF"/>
                </a:solidFill>
                <a:latin typeface="Poppins"/>
                <a:ea typeface="Poppins"/>
                <a:cs typeface="Poppins"/>
                <a:sym typeface="Poppins"/>
              </a:rPr>
              <a:t>        - Wisata / grup besar → minibus &amp; bus pariwisata</a:t>
            </a:r>
          </a:p>
          <a:p>
            <a:pPr algn="l">
              <a:lnSpc>
                <a:spcPts val="1905"/>
              </a:lnSpc>
            </a:pPr>
          </a:p>
          <a:p>
            <a:pPr algn="l">
              <a:lnSpc>
                <a:spcPts val="1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549246">
            <a:off x="7868874" y="-2628058"/>
            <a:ext cx="1156392" cy="4250824"/>
            <a:chOff x="0" y="0"/>
            <a:chExt cx="304564" cy="1119558"/>
          </a:xfrm>
        </p:grpSpPr>
        <p:sp>
          <p:nvSpPr>
            <p:cNvPr name="Freeform 7" id="7"/>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8" id="8"/>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549246">
            <a:off x="1243998" y="8619543"/>
            <a:ext cx="1156392" cy="4250824"/>
            <a:chOff x="0" y="0"/>
            <a:chExt cx="304564" cy="1119558"/>
          </a:xfrm>
        </p:grpSpPr>
        <p:sp>
          <p:nvSpPr>
            <p:cNvPr name="Freeform 10" id="10"/>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5271FF"/>
            </a:solidFill>
          </p:spPr>
        </p:sp>
        <p:sp>
          <p:nvSpPr>
            <p:cNvPr name="TextBox 11" id="11"/>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549246">
            <a:off x="-202210" y="2586474"/>
            <a:ext cx="1156392" cy="5114052"/>
            <a:chOff x="0" y="0"/>
            <a:chExt cx="304564" cy="1346911"/>
          </a:xfrm>
        </p:grpSpPr>
        <p:sp>
          <p:nvSpPr>
            <p:cNvPr name="Freeform 13" id="13"/>
            <p:cNvSpPr/>
            <p:nvPr/>
          </p:nvSpPr>
          <p:spPr>
            <a:xfrm flipH="false" flipV="false" rot="0">
              <a:off x="0" y="0"/>
              <a:ext cx="304564" cy="1346911"/>
            </a:xfrm>
            <a:custGeom>
              <a:avLst/>
              <a:gdLst/>
              <a:ahLst/>
              <a:cxnLst/>
              <a:rect r="r" b="b" t="t" l="l"/>
              <a:pathLst>
                <a:path h="1346911" w="304564">
                  <a:moveTo>
                    <a:pt x="152282" y="0"/>
                  </a:moveTo>
                  <a:lnTo>
                    <a:pt x="152282" y="0"/>
                  </a:lnTo>
                  <a:cubicBezTo>
                    <a:pt x="192670" y="0"/>
                    <a:pt x="231403" y="16044"/>
                    <a:pt x="259962" y="44602"/>
                  </a:cubicBezTo>
                  <a:cubicBezTo>
                    <a:pt x="288520" y="73161"/>
                    <a:pt x="304564" y="111894"/>
                    <a:pt x="304564" y="152282"/>
                  </a:cubicBezTo>
                  <a:lnTo>
                    <a:pt x="304564" y="1194629"/>
                  </a:lnTo>
                  <a:cubicBezTo>
                    <a:pt x="304564" y="1235017"/>
                    <a:pt x="288520" y="1273750"/>
                    <a:pt x="259962" y="1302308"/>
                  </a:cubicBezTo>
                  <a:cubicBezTo>
                    <a:pt x="231403" y="1330867"/>
                    <a:pt x="192670" y="1346911"/>
                    <a:pt x="152282" y="1346911"/>
                  </a:cubicBezTo>
                  <a:lnTo>
                    <a:pt x="152282" y="1346911"/>
                  </a:lnTo>
                  <a:cubicBezTo>
                    <a:pt x="68179" y="1346911"/>
                    <a:pt x="0" y="1278732"/>
                    <a:pt x="0" y="1194629"/>
                  </a:cubicBezTo>
                  <a:lnTo>
                    <a:pt x="0" y="152282"/>
                  </a:lnTo>
                  <a:cubicBezTo>
                    <a:pt x="0" y="68179"/>
                    <a:pt x="68179" y="0"/>
                    <a:pt x="152282" y="0"/>
                  </a:cubicBezTo>
                  <a:close/>
                </a:path>
              </a:pathLst>
            </a:custGeom>
            <a:solidFill>
              <a:srgbClr val="2B4A9D"/>
            </a:solidFill>
          </p:spPr>
        </p:sp>
        <p:sp>
          <p:nvSpPr>
            <p:cNvPr name="TextBox 14" id="14"/>
            <p:cNvSpPr txBox="true"/>
            <p:nvPr/>
          </p:nvSpPr>
          <p:spPr>
            <a:xfrm>
              <a:off x="0" y="-57150"/>
              <a:ext cx="304564" cy="140406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796311">
            <a:off x="17168010" y="6566406"/>
            <a:ext cx="2239980" cy="8357096"/>
            <a:chOff x="0" y="0"/>
            <a:chExt cx="589953" cy="2201046"/>
          </a:xfrm>
        </p:grpSpPr>
        <p:sp>
          <p:nvSpPr>
            <p:cNvPr name="Freeform 16" id="16"/>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2B4A9D"/>
            </a:solidFill>
          </p:spPr>
        </p:sp>
        <p:sp>
          <p:nvSpPr>
            <p:cNvPr name="TextBox 17" id="17"/>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796311">
            <a:off x="14112080" y="-4254920"/>
            <a:ext cx="2239980" cy="8357096"/>
            <a:chOff x="0" y="0"/>
            <a:chExt cx="589953" cy="2201046"/>
          </a:xfrm>
        </p:grpSpPr>
        <p:sp>
          <p:nvSpPr>
            <p:cNvPr name="Freeform 19" id="19"/>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20" id="20"/>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549246">
            <a:off x="8311357" y="8930300"/>
            <a:ext cx="1156392" cy="4250824"/>
            <a:chOff x="0" y="0"/>
            <a:chExt cx="304564" cy="1119558"/>
          </a:xfrm>
        </p:grpSpPr>
        <p:sp>
          <p:nvSpPr>
            <p:cNvPr name="Freeform 22" id="22"/>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23" id="23"/>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099269" y="3781791"/>
            <a:ext cx="3883243" cy="388324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E2E2"/>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1954409" y="3636931"/>
            <a:ext cx="3883243" cy="388324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A9D"/>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2099269" y="3781791"/>
            <a:ext cx="3593523" cy="359352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1126" t="0" r="-47047" b="0"/>
              </a:stretch>
            </a:blipFill>
          </p:spPr>
        </p:sp>
      </p:grpSp>
      <p:sp>
        <p:nvSpPr>
          <p:cNvPr name="TextBox 32" id="32"/>
          <p:cNvSpPr txBox="true"/>
          <p:nvPr/>
        </p:nvSpPr>
        <p:spPr>
          <a:xfrm rot="0">
            <a:off x="2801483" y="2018597"/>
            <a:ext cx="12176139" cy="1250950"/>
          </a:xfrm>
          <a:prstGeom prst="rect">
            <a:avLst/>
          </a:prstGeom>
        </p:spPr>
        <p:txBody>
          <a:bodyPr anchor="t" rtlCol="false" tIns="0" lIns="0" bIns="0" rIns="0">
            <a:spAutoFit/>
          </a:bodyPr>
          <a:lstStyle/>
          <a:p>
            <a:pPr algn="ctr">
              <a:lnSpc>
                <a:spcPts val="9799"/>
              </a:lnSpc>
            </a:pPr>
            <a:r>
              <a:rPr lang="en-US" b="true" sz="6999">
                <a:solidFill>
                  <a:srgbClr val="2B4A9D"/>
                </a:solidFill>
                <a:latin typeface="Poppins Bold"/>
                <a:ea typeface="Poppins Bold"/>
                <a:cs typeface="Poppins Bold"/>
                <a:sym typeface="Poppins Bold"/>
              </a:rPr>
              <a:t>BIAYA IMPLISIT</a:t>
            </a:r>
          </a:p>
        </p:txBody>
      </p:sp>
      <p:sp>
        <p:nvSpPr>
          <p:cNvPr name="TextBox 33" id="33"/>
          <p:cNvSpPr txBox="true"/>
          <p:nvPr/>
        </p:nvSpPr>
        <p:spPr>
          <a:xfrm rot="0">
            <a:off x="2785144" y="3359178"/>
            <a:ext cx="8394308" cy="5531484"/>
          </a:xfrm>
          <a:prstGeom prst="rect">
            <a:avLst/>
          </a:prstGeom>
        </p:spPr>
        <p:txBody>
          <a:bodyPr anchor="t" rtlCol="false" tIns="0" lIns="0" bIns="0" rIns="0">
            <a:spAutoFit/>
          </a:bodyPr>
          <a:lstStyle/>
          <a:p>
            <a:pPr algn="just" marL="345448" indent="-172724" lvl="1">
              <a:lnSpc>
                <a:spcPts val="2240"/>
              </a:lnSpc>
              <a:buAutoNum type="arabicPeriod" startAt="1"/>
            </a:pPr>
            <a:r>
              <a:rPr lang="en-US" sz="1600">
                <a:solidFill>
                  <a:srgbClr val="000000"/>
                </a:solidFill>
                <a:latin typeface="Poppins"/>
                <a:ea typeface="Poppins"/>
                <a:cs typeface="Poppins"/>
                <a:sym typeface="Poppins"/>
              </a:rPr>
              <a:t>Gajii Pemilik Perusahaan</a:t>
            </a:r>
          </a:p>
          <a:p>
            <a:pPr algn="just">
              <a:lnSpc>
                <a:spcPts val="2240"/>
              </a:lnSpc>
            </a:pPr>
            <a:r>
              <a:rPr lang="en-US" sz="1600">
                <a:solidFill>
                  <a:srgbClr val="000000"/>
                </a:solidFill>
                <a:latin typeface="Poppins"/>
                <a:ea typeface="Poppins"/>
                <a:cs typeface="Poppins"/>
                <a:sym typeface="Poppins"/>
              </a:rPr>
              <a:t>Jika pemilik ikut mengelola operasional harian, padahal bisa bekerja di perusahaan lain dengan gaji misalnya Rp10jt/bulan -&gt;</a:t>
            </a:r>
          </a:p>
          <a:p>
            <a:pPr algn="just">
              <a:lnSpc>
                <a:spcPts val="2240"/>
              </a:lnSpc>
            </a:pPr>
            <a:r>
              <a:rPr lang="en-US" sz="1600">
                <a:solidFill>
                  <a:srgbClr val="000000"/>
                </a:solidFill>
                <a:latin typeface="Poppins"/>
                <a:ea typeface="Poppins"/>
                <a:cs typeface="Poppins"/>
                <a:sym typeface="Poppins"/>
              </a:rPr>
              <a:t>Biaya implisit: Rp10/bulan</a:t>
            </a:r>
          </a:p>
          <a:p>
            <a:pPr algn="just">
              <a:lnSpc>
                <a:spcPts val="2240"/>
              </a:lnSpc>
            </a:pPr>
          </a:p>
          <a:p>
            <a:pPr algn="just">
              <a:lnSpc>
                <a:spcPts val="2240"/>
              </a:lnSpc>
            </a:pPr>
            <a:r>
              <a:rPr lang="en-US" sz="1600">
                <a:solidFill>
                  <a:srgbClr val="000000"/>
                </a:solidFill>
                <a:latin typeface="Poppins"/>
                <a:ea typeface="Poppins"/>
                <a:cs typeface="Poppins"/>
                <a:sym typeface="Poppins"/>
              </a:rPr>
              <a:t>  2. Penggunaan Aset Pribadi                          </a:t>
            </a:r>
          </a:p>
          <a:p>
            <a:pPr algn="just">
              <a:lnSpc>
                <a:spcPts val="2240"/>
              </a:lnSpc>
            </a:pPr>
            <a:r>
              <a:rPr lang="en-US" sz="1600">
                <a:solidFill>
                  <a:srgbClr val="000000"/>
                </a:solidFill>
                <a:latin typeface="Poppins"/>
                <a:ea typeface="Poppins"/>
                <a:cs typeface="Poppins"/>
                <a:sym typeface="Poppins"/>
              </a:rPr>
              <a:t>Misalnya kantor atau garasi milik pribadi </a:t>
            </a:r>
          </a:p>
          <a:p>
            <a:pPr algn="just">
              <a:lnSpc>
                <a:spcPts val="2240"/>
              </a:lnSpc>
            </a:pPr>
            <a:r>
              <a:rPr lang="en-US" sz="1600">
                <a:solidFill>
                  <a:srgbClr val="000000"/>
                </a:solidFill>
                <a:latin typeface="Poppins"/>
                <a:ea typeface="Poppins"/>
                <a:cs typeface="Poppins"/>
                <a:sym typeface="Poppins"/>
              </a:rPr>
              <a:t>digunakan untuk operasional, padahal bisa   disewakan ke pihak lain.</a:t>
            </a:r>
          </a:p>
          <a:p>
            <a:pPr algn="just">
              <a:lnSpc>
                <a:spcPts val="2240"/>
              </a:lnSpc>
            </a:pPr>
            <a:r>
              <a:rPr lang="en-US" sz="1600">
                <a:solidFill>
                  <a:srgbClr val="000000"/>
                </a:solidFill>
                <a:latin typeface="Poppins"/>
                <a:ea typeface="Poppins"/>
                <a:cs typeface="Poppins"/>
                <a:sym typeface="Poppins"/>
              </a:rPr>
              <a:t>Garasi bisa disewa Rp30 juta/tahun -&gt;</a:t>
            </a:r>
          </a:p>
          <a:p>
            <a:pPr algn="just">
              <a:lnSpc>
                <a:spcPts val="2240"/>
              </a:lnSpc>
            </a:pPr>
            <a:r>
              <a:rPr lang="en-US" sz="1600">
                <a:solidFill>
                  <a:srgbClr val="000000"/>
                </a:solidFill>
                <a:latin typeface="Poppins"/>
                <a:ea typeface="Poppins"/>
                <a:cs typeface="Poppins"/>
                <a:sym typeface="Poppins"/>
              </a:rPr>
              <a:t>Biaya implisit: Rp30 juta/tahun</a:t>
            </a:r>
            <a:r>
              <a:rPr lang="en-US" sz="1600">
                <a:solidFill>
                  <a:srgbClr val="000000"/>
                </a:solidFill>
                <a:latin typeface="Poppins"/>
                <a:ea typeface="Poppins"/>
                <a:cs typeface="Poppins"/>
                <a:sym typeface="Poppins"/>
              </a:rPr>
              <a:t> </a:t>
            </a:r>
          </a:p>
          <a:p>
            <a:pPr algn="just">
              <a:lnSpc>
                <a:spcPts val="2240"/>
              </a:lnSpc>
            </a:pPr>
          </a:p>
          <a:p>
            <a:pPr algn="just">
              <a:lnSpc>
                <a:spcPts val="2240"/>
              </a:lnSpc>
            </a:pPr>
            <a:r>
              <a:rPr lang="en-US" sz="1600">
                <a:solidFill>
                  <a:srgbClr val="000000"/>
                </a:solidFill>
                <a:latin typeface="Poppins"/>
                <a:ea typeface="Poppins"/>
                <a:cs typeface="Poppins"/>
                <a:sym typeface="Poppins"/>
              </a:rPr>
              <a:t>  3.Modal Usaha Pribadi</a:t>
            </a:r>
          </a:p>
          <a:p>
            <a:pPr algn="just">
              <a:lnSpc>
                <a:spcPts val="2240"/>
              </a:lnSpc>
            </a:pPr>
            <a:r>
              <a:rPr lang="en-US" sz="1600">
                <a:solidFill>
                  <a:srgbClr val="000000"/>
                </a:solidFill>
                <a:latin typeface="Poppins"/>
                <a:ea typeface="Poppins"/>
                <a:cs typeface="Poppins"/>
                <a:sym typeface="Poppins"/>
              </a:rPr>
              <a:t>Jika modal berasal dari dana pribadi, padahal dana tersebut bisa diinvestasikan </a:t>
            </a:r>
          </a:p>
          <a:p>
            <a:pPr algn="just">
              <a:lnSpc>
                <a:spcPts val="2240"/>
              </a:lnSpc>
            </a:pPr>
            <a:r>
              <a:rPr lang="en-US" sz="1600">
                <a:solidFill>
                  <a:srgbClr val="000000"/>
                </a:solidFill>
                <a:latin typeface="Poppins"/>
                <a:ea typeface="Poppins"/>
                <a:cs typeface="Poppins"/>
                <a:sym typeface="Poppins"/>
              </a:rPr>
              <a:t>di deposito atau saham dan menghasilkan bunga/dividen.</a:t>
            </a:r>
          </a:p>
          <a:p>
            <a:pPr algn="just">
              <a:lnSpc>
                <a:spcPts val="2240"/>
              </a:lnSpc>
            </a:pPr>
            <a:r>
              <a:rPr lang="en-US" sz="1600">
                <a:solidFill>
                  <a:srgbClr val="000000"/>
                </a:solidFill>
                <a:latin typeface="Poppins"/>
                <a:ea typeface="Poppins"/>
                <a:cs typeface="Poppins"/>
                <a:sym typeface="Poppins"/>
              </a:rPr>
              <a:t>Modal Rp200 juta, bisa dapat bunga 5% = Rp10 juta/tahun -&gt;</a:t>
            </a:r>
          </a:p>
          <a:p>
            <a:pPr algn="just">
              <a:lnSpc>
                <a:spcPts val="2240"/>
              </a:lnSpc>
            </a:pPr>
            <a:r>
              <a:rPr lang="en-US" sz="1600">
                <a:solidFill>
                  <a:srgbClr val="000000"/>
                </a:solidFill>
                <a:latin typeface="Poppins"/>
                <a:ea typeface="Poppins"/>
                <a:cs typeface="Poppins"/>
                <a:sym typeface="Poppins"/>
              </a:rPr>
              <a:t>Biaya implisit: Rp10 juta/tahun</a:t>
            </a:r>
          </a:p>
          <a:p>
            <a:pPr algn="just">
              <a:lnSpc>
                <a:spcPts val="2240"/>
              </a:lnSpc>
            </a:pPr>
          </a:p>
          <a:p>
            <a:pPr algn="just">
              <a:lnSpc>
                <a:spcPts val="2240"/>
              </a:lnSpc>
            </a:pPr>
            <a:r>
              <a:rPr lang="en-US" sz="1600">
                <a:solidFill>
                  <a:srgbClr val="000000"/>
                </a:solidFill>
                <a:latin typeface="Poppins"/>
                <a:ea typeface="Poppins"/>
                <a:cs typeface="Poppins"/>
                <a:sym typeface="Poppins"/>
              </a:rPr>
              <a:t>  4.Waktu &amp; tenaga Pribadi</a:t>
            </a:r>
          </a:p>
          <a:p>
            <a:pPr algn="just">
              <a:lnSpc>
                <a:spcPts val="2240"/>
              </a:lnSpc>
            </a:pPr>
            <a:r>
              <a:rPr lang="en-US" sz="1600">
                <a:solidFill>
                  <a:srgbClr val="000000"/>
                </a:solidFill>
                <a:latin typeface="Poppins"/>
                <a:ea typeface="Poppins"/>
                <a:cs typeface="Poppins"/>
                <a:sym typeface="Poppins"/>
              </a:rPr>
              <a:t>Waktu pemilik yang digunakan untuk mengelola bisnis bisa di anggap sebagai biaya implisit karena mengorbankan akivitas produktif lainnya.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549246">
            <a:off x="7868874" y="-2628058"/>
            <a:ext cx="1156392" cy="4250824"/>
            <a:chOff x="0" y="0"/>
            <a:chExt cx="304564" cy="1119558"/>
          </a:xfrm>
        </p:grpSpPr>
        <p:sp>
          <p:nvSpPr>
            <p:cNvPr name="Freeform 7" id="7"/>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8" id="8"/>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549246">
            <a:off x="1243998" y="8619543"/>
            <a:ext cx="1156392" cy="4250824"/>
            <a:chOff x="0" y="0"/>
            <a:chExt cx="304564" cy="1119558"/>
          </a:xfrm>
        </p:grpSpPr>
        <p:sp>
          <p:nvSpPr>
            <p:cNvPr name="Freeform 10" id="10"/>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5271FF"/>
            </a:solidFill>
          </p:spPr>
        </p:sp>
        <p:sp>
          <p:nvSpPr>
            <p:cNvPr name="TextBox 11" id="11"/>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549246">
            <a:off x="-202210" y="2586474"/>
            <a:ext cx="1156392" cy="5114052"/>
            <a:chOff x="0" y="0"/>
            <a:chExt cx="304564" cy="1346911"/>
          </a:xfrm>
        </p:grpSpPr>
        <p:sp>
          <p:nvSpPr>
            <p:cNvPr name="Freeform 13" id="13"/>
            <p:cNvSpPr/>
            <p:nvPr/>
          </p:nvSpPr>
          <p:spPr>
            <a:xfrm flipH="false" flipV="false" rot="0">
              <a:off x="0" y="0"/>
              <a:ext cx="304564" cy="1346911"/>
            </a:xfrm>
            <a:custGeom>
              <a:avLst/>
              <a:gdLst/>
              <a:ahLst/>
              <a:cxnLst/>
              <a:rect r="r" b="b" t="t" l="l"/>
              <a:pathLst>
                <a:path h="1346911" w="304564">
                  <a:moveTo>
                    <a:pt x="152282" y="0"/>
                  </a:moveTo>
                  <a:lnTo>
                    <a:pt x="152282" y="0"/>
                  </a:lnTo>
                  <a:cubicBezTo>
                    <a:pt x="192670" y="0"/>
                    <a:pt x="231403" y="16044"/>
                    <a:pt x="259962" y="44602"/>
                  </a:cubicBezTo>
                  <a:cubicBezTo>
                    <a:pt x="288520" y="73161"/>
                    <a:pt x="304564" y="111894"/>
                    <a:pt x="304564" y="152282"/>
                  </a:cubicBezTo>
                  <a:lnTo>
                    <a:pt x="304564" y="1194629"/>
                  </a:lnTo>
                  <a:cubicBezTo>
                    <a:pt x="304564" y="1235017"/>
                    <a:pt x="288520" y="1273750"/>
                    <a:pt x="259962" y="1302308"/>
                  </a:cubicBezTo>
                  <a:cubicBezTo>
                    <a:pt x="231403" y="1330867"/>
                    <a:pt x="192670" y="1346911"/>
                    <a:pt x="152282" y="1346911"/>
                  </a:cubicBezTo>
                  <a:lnTo>
                    <a:pt x="152282" y="1346911"/>
                  </a:lnTo>
                  <a:cubicBezTo>
                    <a:pt x="68179" y="1346911"/>
                    <a:pt x="0" y="1278732"/>
                    <a:pt x="0" y="1194629"/>
                  </a:cubicBezTo>
                  <a:lnTo>
                    <a:pt x="0" y="152282"/>
                  </a:lnTo>
                  <a:cubicBezTo>
                    <a:pt x="0" y="68179"/>
                    <a:pt x="68179" y="0"/>
                    <a:pt x="152282" y="0"/>
                  </a:cubicBezTo>
                  <a:close/>
                </a:path>
              </a:pathLst>
            </a:custGeom>
            <a:solidFill>
              <a:srgbClr val="2B4A9D"/>
            </a:solidFill>
          </p:spPr>
        </p:sp>
        <p:sp>
          <p:nvSpPr>
            <p:cNvPr name="TextBox 14" id="14"/>
            <p:cNvSpPr txBox="true"/>
            <p:nvPr/>
          </p:nvSpPr>
          <p:spPr>
            <a:xfrm>
              <a:off x="0" y="-57150"/>
              <a:ext cx="304564" cy="140406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796311">
            <a:off x="17168010" y="6566406"/>
            <a:ext cx="2239980" cy="8357096"/>
            <a:chOff x="0" y="0"/>
            <a:chExt cx="589953" cy="2201046"/>
          </a:xfrm>
        </p:grpSpPr>
        <p:sp>
          <p:nvSpPr>
            <p:cNvPr name="Freeform 16" id="16"/>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2B4A9D"/>
            </a:solidFill>
          </p:spPr>
        </p:sp>
        <p:sp>
          <p:nvSpPr>
            <p:cNvPr name="TextBox 17" id="17"/>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796311">
            <a:off x="14112080" y="-4254920"/>
            <a:ext cx="2239980" cy="8357096"/>
            <a:chOff x="0" y="0"/>
            <a:chExt cx="589953" cy="2201046"/>
          </a:xfrm>
        </p:grpSpPr>
        <p:sp>
          <p:nvSpPr>
            <p:cNvPr name="Freeform 19" id="19"/>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20" id="20"/>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549246">
            <a:off x="8311357" y="8930300"/>
            <a:ext cx="1156392" cy="4250824"/>
            <a:chOff x="0" y="0"/>
            <a:chExt cx="304564" cy="1119558"/>
          </a:xfrm>
        </p:grpSpPr>
        <p:sp>
          <p:nvSpPr>
            <p:cNvPr name="Freeform 22" id="22"/>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23" id="23"/>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801483" y="2018597"/>
            <a:ext cx="12176139" cy="1250950"/>
          </a:xfrm>
          <a:prstGeom prst="rect">
            <a:avLst/>
          </a:prstGeom>
        </p:spPr>
        <p:txBody>
          <a:bodyPr anchor="t" rtlCol="false" tIns="0" lIns="0" bIns="0" rIns="0">
            <a:spAutoFit/>
          </a:bodyPr>
          <a:lstStyle/>
          <a:p>
            <a:pPr algn="ctr">
              <a:lnSpc>
                <a:spcPts val="9799"/>
              </a:lnSpc>
            </a:pPr>
            <a:r>
              <a:rPr lang="en-US" b="true" sz="6999">
                <a:solidFill>
                  <a:srgbClr val="2B4A9D"/>
                </a:solidFill>
                <a:latin typeface="Poppins Bold"/>
                <a:ea typeface="Poppins Bold"/>
                <a:cs typeface="Poppins Bold"/>
                <a:sym typeface="Poppins Bold"/>
              </a:rPr>
              <a:t>BIAYA EKSPLISIT</a:t>
            </a:r>
          </a:p>
        </p:txBody>
      </p:sp>
      <p:sp>
        <p:nvSpPr>
          <p:cNvPr name="TextBox 25" id="25"/>
          <p:cNvSpPr txBox="true"/>
          <p:nvPr/>
        </p:nvSpPr>
        <p:spPr>
          <a:xfrm rot="0">
            <a:off x="2677450" y="3764847"/>
            <a:ext cx="6625170" cy="4010024"/>
          </a:xfrm>
          <a:prstGeom prst="rect">
            <a:avLst/>
          </a:prstGeom>
        </p:spPr>
        <p:txBody>
          <a:bodyPr anchor="t" rtlCol="false" tIns="0" lIns="0" bIns="0" rIns="0">
            <a:spAutoFit/>
          </a:bodyPr>
          <a:lstStyle/>
          <a:p>
            <a:pPr algn="just">
              <a:lnSpc>
                <a:spcPts val="2100"/>
              </a:lnSpc>
            </a:pPr>
            <a:r>
              <a:rPr lang="en-US" sz="1500">
                <a:solidFill>
                  <a:srgbClr val="000000"/>
                </a:solidFill>
                <a:latin typeface="Poppins"/>
                <a:ea typeface="Poppins"/>
                <a:cs typeface="Poppins"/>
                <a:sym typeface="Poppins"/>
              </a:rPr>
              <a:t>1.Gaji Karyawan &amp; Sopir</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Gaji bulanan staf administrasi, teknisi, dan sopir.</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Rp5 juta/karyawan.</a:t>
            </a:r>
          </a:p>
          <a:p>
            <a:pPr algn="just">
              <a:lnSpc>
                <a:spcPts val="2100"/>
              </a:lnSpc>
            </a:pPr>
          </a:p>
          <a:p>
            <a:pPr algn="just">
              <a:lnSpc>
                <a:spcPts val="2100"/>
              </a:lnSpc>
            </a:pPr>
            <a:r>
              <a:rPr lang="en-US" sz="1500">
                <a:solidFill>
                  <a:srgbClr val="000000"/>
                </a:solidFill>
                <a:latin typeface="Poppins"/>
                <a:ea typeface="Poppins"/>
                <a:cs typeface="Poppins"/>
                <a:sym typeface="Poppins"/>
              </a:rPr>
              <a:t>2.Biaya Bahan Bakar</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Pengeluaran untuk BBM mobil yang disewa oleh pelanggan.</a:t>
            </a:r>
          </a:p>
          <a:p>
            <a:pPr algn="just">
              <a:lnSpc>
                <a:spcPts val="2100"/>
              </a:lnSpc>
            </a:pPr>
          </a:p>
          <a:p>
            <a:pPr algn="just">
              <a:lnSpc>
                <a:spcPts val="2100"/>
              </a:lnSpc>
            </a:pPr>
            <a:r>
              <a:rPr lang="en-US" sz="1500">
                <a:solidFill>
                  <a:srgbClr val="000000"/>
                </a:solidFill>
                <a:latin typeface="Poppins"/>
                <a:ea typeface="Poppins"/>
                <a:cs typeface="Poppins"/>
                <a:sym typeface="Poppins"/>
              </a:rPr>
              <a:t>3.Servis &amp; Perawatan Kendaraan </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Ganti oli, servis rutin, perbaiki mesin, cuci mobil, dll.</a:t>
            </a:r>
          </a:p>
          <a:p>
            <a:pPr algn="just">
              <a:lnSpc>
                <a:spcPts val="2100"/>
              </a:lnSpc>
            </a:pPr>
          </a:p>
          <a:p>
            <a:pPr algn="just">
              <a:lnSpc>
                <a:spcPts val="2100"/>
              </a:lnSpc>
            </a:pPr>
            <a:r>
              <a:rPr lang="en-US" sz="1500">
                <a:solidFill>
                  <a:srgbClr val="000000"/>
                </a:solidFill>
                <a:latin typeface="Poppins"/>
                <a:ea typeface="Poppins"/>
                <a:cs typeface="Poppins"/>
                <a:sym typeface="Poppins"/>
              </a:rPr>
              <a:t>4.Asuransi Kendaraan</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Pembayaran premi asuransi mobil.</a:t>
            </a:r>
          </a:p>
          <a:p>
            <a:pPr algn="just">
              <a:lnSpc>
                <a:spcPts val="2100"/>
              </a:lnSpc>
            </a:pPr>
          </a:p>
          <a:p>
            <a:pPr algn="just">
              <a:lnSpc>
                <a:spcPts val="2100"/>
              </a:lnSpc>
            </a:pPr>
            <a:r>
              <a:rPr lang="en-US" sz="1500">
                <a:solidFill>
                  <a:srgbClr val="000000"/>
                </a:solidFill>
                <a:latin typeface="Poppins"/>
                <a:ea typeface="Poppins"/>
                <a:cs typeface="Poppins"/>
                <a:sym typeface="Poppins"/>
              </a:rPr>
              <a:t>5.Biaya Pajak</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Pajak kendaraan bermotor (PKB), pajak usaha.</a:t>
            </a:r>
          </a:p>
        </p:txBody>
      </p:sp>
      <p:sp>
        <p:nvSpPr>
          <p:cNvPr name="TextBox 26" id="26"/>
          <p:cNvSpPr txBox="true"/>
          <p:nvPr/>
        </p:nvSpPr>
        <p:spPr>
          <a:xfrm rot="0">
            <a:off x="9144000" y="3764847"/>
            <a:ext cx="6625170" cy="3743324"/>
          </a:xfrm>
          <a:prstGeom prst="rect">
            <a:avLst/>
          </a:prstGeom>
        </p:spPr>
        <p:txBody>
          <a:bodyPr anchor="t" rtlCol="false" tIns="0" lIns="0" bIns="0" rIns="0">
            <a:spAutoFit/>
          </a:bodyPr>
          <a:lstStyle/>
          <a:p>
            <a:pPr algn="just">
              <a:lnSpc>
                <a:spcPts val="2100"/>
              </a:lnSpc>
            </a:pPr>
            <a:r>
              <a:rPr lang="en-US" sz="1500">
                <a:solidFill>
                  <a:srgbClr val="000000"/>
                </a:solidFill>
                <a:latin typeface="Poppins"/>
                <a:ea typeface="Poppins"/>
                <a:cs typeface="Poppins"/>
                <a:sym typeface="Poppins"/>
              </a:rPr>
              <a:t>6.Sewa Tempat</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Biaya sewa kantor atau garasi kendaraan.</a:t>
            </a:r>
          </a:p>
          <a:p>
            <a:pPr algn="just">
              <a:lnSpc>
                <a:spcPts val="2100"/>
              </a:lnSpc>
            </a:pPr>
          </a:p>
          <a:p>
            <a:pPr algn="just">
              <a:lnSpc>
                <a:spcPts val="2100"/>
              </a:lnSpc>
            </a:pPr>
            <a:r>
              <a:rPr lang="en-US" sz="1500">
                <a:solidFill>
                  <a:srgbClr val="000000"/>
                </a:solidFill>
                <a:latin typeface="Poppins"/>
                <a:ea typeface="Poppins"/>
                <a:cs typeface="Poppins"/>
                <a:sym typeface="Poppins"/>
              </a:rPr>
              <a:t>7.Pembelian Suku Cadang &amp; Ban</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Sparepart untuk perawatan kendaraan.</a:t>
            </a:r>
          </a:p>
          <a:p>
            <a:pPr algn="just">
              <a:lnSpc>
                <a:spcPts val="2100"/>
              </a:lnSpc>
            </a:pPr>
          </a:p>
          <a:p>
            <a:pPr algn="just">
              <a:lnSpc>
                <a:spcPts val="2100"/>
              </a:lnSpc>
            </a:pPr>
            <a:r>
              <a:rPr lang="en-US" sz="1500">
                <a:solidFill>
                  <a:srgbClr val="000000"/>
                </a:solidFill>
                <a:latin typeface="Poppins"/>
                <a:ea typeface="Poppins"/>
                <a:cs typeface="Poppins"/>
                <a:sym typeface="Poppins"/>
              </a:rPr>
              <a:t>8.Listrik, Air, &amp; Internet</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Untuk operasional kantor.</a:t>
            </a:r>
          </a:p>
          <a:p>
            <a:pPr algn="just">
              <a:lnSpc>
                <a:spcPts val="2100"/>
              </a:lnSpc>
            </a:pPr>
          </a:p>
          <a:p>
            <a:pPr algn="just">
              <a:lnSpc>
                <a:spcPts val="2100"/>
              </a:lnSpc>
            </a:pPr>
            <a:r>
              <a:rPr lang="en-US" sz="1500">
                <a:solidFill>
                  <a:srgbClr val="000000"/>
                </a:solidFill>
                <a:latin typeface="Poppins"/>
                <a:ea typeface="Poppins"/>
                <a:cs typeface="Poppins"/>
                <a:sym typeface="Poppins"/>
              </a:rPr>
              <a:t>9.Promosi &amp; Iklan</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 Biaya pasang iklan, brosur, atau promosi online.</a:t>
            </a:r>
          </a:p>
          <a:p>
            <a:pPr algn="just">
              <a:lnSpc>
                <a:spcPts val="2100"/>
              </a:lnSpc>
            </a:pPr>
          </a:p>
          <a:p>
            <a:pPr algn="just" marL="323858" indent="-161929" lvl="1">
              <a:lnSpc>
                <a:spcPts val="2100"/>
              </a:lnSpc>
              <a:buAutoNum type="arabicPeriod" startAt="1"/>
            </a:pPr>
            <a:r>
              <a:rPr lang="en-US" sz="1500">
                <a:solidFill>
                  <a:srgbClr val="000000"/>
                </a:solidFill>
                <a:latin typeface="Poppins"/>
                <a:ea typeface="Poppins"/>
                <a:cs typeface="Poppins"/>
                <a:sym typeface="Poppins"/>
              </a:rPr>
              <a:t>Perizinan &amp; Legalisasi</a:t>
            </a:r>
          </a:p>
          <a:p>
            <a:pPr algn="just" marL="323858" indent="-161929" lvl="1">
              <a:lnSpc>
                <a:spcPts val="2100"/>
              </a:lnSpc>
              <a:buFont typeface="Arial"/>
              <a:buChar char="•"/>
            </a:pPr>
            <a:r>
              <a:rPr lang="en-US" sz="1500">
                <a:solidFill>
                  <a:srgbClr val="000000"/>
                </a:solidFill>
                <a:latin typeface="Poppins"/>
                <a:ea typeface="Poppins"/>
                <a:cs typeface="Poppins"/>
                <a:sym typeface="Poppins"/>
              </a:rPr>
              <a:t>Biaya pengurusan surat izin usaha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549246">
            <a:off x="7868874" y="-2628058"/>
            <a:ext cx="1156392" cy="4250824"/>
            <a:chOff x="0" y="0"/>
            <a:chExt cx="304564" cy="1119558"/>
          </a:xfrm>
        </p:grpSpPr>
        <p:sp>
          <p:nvSpPr>
            <p:cNvPr name="Freeform 7" id="7"/>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8" id="8"/>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549246">
            <a:off x="1243998" y="8619543"/>
            <a:ext cx="1156392" cy="4250824"/>
            <a:chOff x="0" y="0"/>
            <a:chExt cx="304564" cy="1119558"/>
          </a:xfrm>
        </p:grpSpPr>
        <p:sp>
          <p:nvSpPr>
            <p:cNvPr name="Freeform 10" id="10"/>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5271FF"/>
            </a:solidFill>
          </p:spPr>
        </p:sp>
        <p:sp>
          <p:nvSpPr>
            <p:cNvPr name="TextBox 11" id="11"/>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549246">
            <a:off x="-202210" y="2586474"/>
            <a:ext cx="1156392" cy="5114052"/>
            <a:chOff x="0" y="0"/>
            <a:chExt cx="304564" cy="1346911"/>
          </a:xfrm>
        </p:grpSpPr>
        <p:sp>
          <p:nvSpPr>
            <p:cNvPr name="Freeform 13" id="13"/>
            <p:cNvSpPr/>
            <p:nvPr/>
          </p:nvSpPr>
          <p:spPr>
            <a:xfrm flipH="false" flipV="false" rot="0">
              <a:off x="0" y="0"/>
              <a:ext cx="304564" cy="1346911"/>
            </a:xfrm>
            <a:custGeom>
              <a:avLst/>
              <a:gdLst/>
              <a:ahLst/>
              <a:cxnLst/>
              <a:rect r="r" b="b" t="t" l="l"/>
              <a:pathLst>
                <a:path h="1346911" w="304564">
                  <a:moveTo>
                    <a:pt x="152282" y="0"/>
                  </a:moveTo>
                  <a:lnTo>
                    <a:pt x="152282" y="0"/>
                  </a:lnTo>
                  <a:cubicBezTo>
                    <a:pt x="192670" y="0"/>
                    <a:pt x="231403" y="16044"/>
                    <a:pt x="259962" y="44602"/>
                  </a:cubicBezTo>
                  <a:cubicBezTo>
                    <a:pt x="288520" y="73161"/>
                    <a:pt x="304564" y="111894"/>
                    <a:pt x="304564" y="152282"/>
                  </a:cubicBezTo>
                  <a:lnTo>
                    <a:pt x="304564" y="1194629"/>
                  </a:lnTo>
                  <a:cubicBezTo>
                    <a:pt x="304564" y="1235017"/>
                    <a:pt x="288520" y="1273750"/>
                    <a:pt x="259962" y="1302308"/>
                  </a:cubicBezTo>
                  <a:cubicBezTo>
                    <a:pt x="231403" y="1330867"/>
                    <a:pt x="192670" y="1346911"/>
                    <a:pt x="152282" y="1346911"/>
                  </a:cubicBezTo>
                  <a:lnTo>
                    <a:pt x="152282" y="1346911"/>
                  </a:lnTo>
                  <a:cubicBezTo>
                    <a:pt x="68179" y="1346911"/>
                    <a:pt x="0" y="1278732"/>
                    <a:pt x="0" y="1194629"/>
                  </a:cubicBezTo>
                  <a:lnTo>
                    <a:pt x="0" y="152282"/>
                  </a:lnTo>
                  <a:cubicBezTo>
                    <a:pt x="0" y="68179"/>
                    <a:pt x="68179" y="0"/>
                    <a:pt x="152282" y="0"/>
                  </a:cubicBezTo>
                  <a:close/>
                </a:path>
              </a:pathLst>
            </a:custGeom>
            <a:solidFill>
              <a:srgbClr val="2B4A9D"/>
            </a:solidFill>
          </p:spPr>
        </p:sp>
        <p:sp>
          <p:nvSpPr>
            <p:cNvPr name="TextBox 14" id="14"/>
            <p:cNvSpPr txBox="true"/>
            <p:nvPr/>
          </p:nvSpPr>
          <p:spPr>
            <a:xfrm>
              <a:off x="0" y="-57150"/>
              <a:ext cx="304564" cy="140406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796311">
            <a:off x="17168010" y="6566406"/>
            <a:ext cx="2239980" cy="8357096"/>
            <a:chOff x="0" y="0"/>
            <a:chExt cx="589953" cy="2201046"/>
          </a:xfrm>
        </p:grpSpPr>
        <p:sp>
          <p:nvSpPr>
            <p:cNvPr name="Freeform 16" id="16"/>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2B4A9D"/>
            </a:solidFill>
          </p:spPr>
        </p:sp>
        <p:sp>
          <p:nvSpPr>
            <p:cNvPr name="TextBox 17" id="17"/>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796311">
            <a:off x="14112080" y="-4254920"/>
            <a:ext cx="2239980" cy="8357096"/>
            <a:chOff x="0" y="0"/>
            <a:chExt cx="589953" cy="2201046"/>
          </a:xfrm>
        </p:grpSpPr>
        <p:sp>
          <p:nvSpPr>
            <p:cNvPr name="Freeform 19" id="19"/>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20" id="20"/>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549246">
            <a:off x="8311357" y="8930300"/>
            <a:ext cx="1156392" cy="4250824"/>
            <a:chOff x="0" y="0"/>
            <a:chExt cx="304564" cy="1119558"/>
          </a:xfrm>
        </p:grpSpPr>
        <p:sp>
          <p:nvSpPr>
            <p:cNvPr name="Freeform 22" id="22"/>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23" id="23"/>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801483" y="2018597"/>
            <a:ext cx="12176139" cy="1250950"/>
          </a:xfrm>
          <a:prstGeom prst="rect">
            <a:avLst/>
          </a:prstGeom>
        </p:spPr>
        <p:txBody>
          <a:bodyPr anchor="t" rtlCol="false" tIns="0" lIns="0" bIns="0" rIns="0">
            <a:spAutoFit/>
          </a:bodyPr>
          <a:lstStyle/>
          <a:p>
            <a:pPr algn="ctr">
              <a:lnSpc>
                <a:spcPts val="9799"/>
              </a:lnSpc>
            </a:pPr>
            <a:r>
              <a:rPr lang="en-US" b="true" sz="6999">
                <a:solidFill>
                  <a:srgbClr val="2B4A9D"/>
                </a:solidFill>
                <a:latin typeface="Poppins Bold"/>
                <a:ea typeface="Poppins Bold"/>
                <a:cs typeface="Poppins Bold"/>
                <a:sym typeface="Poppins Bold"/>
              </a:rPr>
              <a:t>IKON-IKON DIGUNAKAN</a:t>
            </a:r>
          </a:p>
        </p:txBody>
      </p:sp>
      <p:sp>
        <p:nvSpPr>
          <p:cNvPr name="TextBox 25" id="25"/>
          <p:cNvSpPr txBox="true"/>
          <p:nvPr/>
        </p:nvSpPr>
        <p:spPr>
          <a:xfrm rot="0">
            <a:off x="2677450" y="3764847"/>
            <a:ext cx="6625170" cy="5610224"/>
          </a:xfrm>
          <a:prstGeom prst="rect">
            <a:avLst/>
          </a:prstGeom>
        </p:spPr>
        <p:txBody>
          <a:bodyPr anchor="t" rtlCol="false" tIns="0" lIns="0" bIns="0" rIns="0">
            <a:spAutoFit/>
          </a:bodyPr>
          <a:lstStyle/>
          <a:p>
            <a:pPr algn="just" marL="323858" indent="-161929" lvl="1">
              <a:lnSpc>
                <a:spcPts val="2100"/>
              </a:lnSpc>
              <a:buAutoNum type="arabicPeriod" startAt="1"/>
            </a:pPr>
            <a:r>
              <a:rPr lang="en-US" sz="1500">
                <a:solidFill>
                  <a:srgbClr val="000000"/>
                </a:solidFill>
                <a:latin typeface="Poppins"/>
                <a:ea typeface="Poppins"/>
                <a:cs typeface="Poppins"/>
                <a:sym typeface="Poppins"/>
              </a:rPr>
              <a:t> Ikon Tipe Kendaraan</a:t>
            </a:r>
          </a:p>
          <a:p>
            <a:pPr algn="just">
              <a:lnSpc>
                <a:spcPts val="2100"/>
              </a:lnSpc>
            </a:pPr>
            <a:r>
              <a:rPr lang="en-US" sz="1500">
                <a:solidFill>
                  <a:srgbClr val="000000"/>
                </a:solidFill>
                <a:latin typeface="Poppins"/>
                <a:ea typeface="Poppins"/>
                <a:cs typeface="Poppins"/>
                <a:sym typeface="Poppins"/>
              </a:rPr>
              <a:t>     - Mobil Penumpang (Avanza, Innova)</a:t>
            </a:r>
          </a:p>
          <a:p>
            <a:pPr algn="just">
              <a:lnSpc>
                <a:spcPts val="2100"/>
              </a:lnSpc>
            </a:pPr>
            <a:r>
              <a:rPr lang="en-US" sz="1500">
                <a:solidFill>
                  <a:srgbClr val="000000"/>
                </a:solidFill>
                <a:latin typeface="Poppins"/>
                <a:ea typeface="Poppins"/>
                <a:cs typeface="Poppins"/>
                <a:sym typeface="Poppins"/>
              </a:rPr>
              <a:t>     - Minibus (HiAce, Elf)</a:t>
            </a:r>
          </a:p>
          <a:p>
            <a:pPr algn="just">
              <a:lnSpc>
                <a:spcPts val="2100"/>
              </a:lnSpc>
            </a:pPr>
            <a:r>
              <a:rPr lang="en-US" sz="1500">
                <a:solidFill>
                  <a:srgbClr val="000000"/>
                </a:solidFill>
                <a:latin typeface="Poppins"/>
                <a:ea typeface="Poppins"/>
                <a:cs typeface="Poppins"/>
                <a:sym typeface="Poppins"/>
              </a:rPr>
              <a:t>     - Bus Pariwisata</a:t>
            </a:r>
          </a:p>
          <a:p>
            <a:pPr algn="just">
              <a:lnSpc>
                <a:spcPts val="2100"/>
              </a:lnSpc>
            </a:pPr>
            <a:r>
              <a:rPr lang="en-US" sz="1500">
                <a:solidFill>
                  <a:srgbClr val="000000"/>
                </a:solidFill>
                <a:latin typeface="Poppins"/>
                <a:ea typeface="Poppins"/>
                <a:cs typeface="Poppins"/>
                <a:sym typeface="Poppins"/>
              </a:rPr>
              <a:t>     - Pickup / L300</a:t>
            </a:r>
          </a:p>
          <a:p>
            <a:pPr algn="just">
              <a:lnSpc>
                <a:spcPts val="2100"/>
              </a:lnSpc>
            </a:pPr>
            <a:r>
              <a:rPr lang="en-US" sz="1500">
                <a:solidFill>
                  <a:srgbClr val="000000"/>
                </a:solidFill>
                <a:latin typeface="Poppins"/>
                <a:ea typeface="Poppins"/>
                <a:cs typeface="Poppins"/>
                <a:sym typeface="Poppins"/>
              </a:rPr>
              <a:t>     - Sepeda Motor (optional)</a:t>
            </a:r>
          </a:p>
          <a:p>
            <a:pPr algn="just">
              <a:lnSpc>
                <a:spcPts val="2100"/>
              </a:lnSpc>
            </a:pPr>
          </a:p>
          <a:p>
            <a:pPr algn="just">
              <a:lnSpc>
                <a:spcPts val="2100"/>
              </a:lnSpc>
            </a:pPr>
            <a:r>
              <a:rPr lang="en-US" sz="1500">
                <a:solidFill>
                  <a:srgbClr val="000000"/>
                </a:solidFill>
                <a:latin typeface="Poppins"/>
                <a:ea typeface="Poppins"/>
                <a:cs typeface="Poppins"/>
                <a:sym typeface="Poppins"/>
              </a:rPr>
              <a:t>    2. Ikon Layanan</a:t>
            </a:r>
          </a:p>
          <a:p>
            <a:pPr algn="just">
              <a:lnSpc>
                <a:spcPts val="2100"/>
              </a:lnSpc>
            </a:pPr>
            <a:r>
              <a:rPr lang="en-US" sz="1500">
                <a:solidFill>
                  <a:srgbClr val="000000"/>
                </a:solidFill>
                <a:latin typeface="Poppins"/>
                <a:ea typeface="Poppins"/>
                <a:cs typeface="Poppins"/>
                <a:sym typeface="Poppins"/>
              </a:rPr>
              <a:t>     - Sewa Harian / Bulanan</a:t>
            </a:r>
          </a:p>
          <a:p>
            <a:pPr algn="just">
              <a:lnSpc>
                <a:spcPts val="2100"/>
              </a:lnSpc>
            </a:pPr>
            <a:r>
              <a:rPr lang="en-US" sz="1500">
                <a:solidFill>
                  <a:srgbClr val="000000"/>
                </a:solidFill>
                <a:latin typeface="Poppins"/>
                <a:ea typeface="Poppins"/>
                <a:cs typeface="Poppins"/>
                <a:sym typeface="Poppins"/>
              </a:rPr>
              <a:t>     - Sopir / Driver</a:t>
            </a:r>
          </a:p>
          <a:p>
            <a:pPr algn="just">
              <a:lnSpc>
                <a:spcPts val="2100"/>
              </a:lnSpc>
            </a:pPr>
            <a:r>
              <a:rPr lang="en-US" sz="1500">
                <a:solidFill>
                  <a:srgbClr val="000000"/>
                </a:solidFill>
                <a:latin typeface="Poppins"/>
                <a:ea typeface="Poppins"/>
                <a:cs typeface="Poppins"/>
                <a:sym typeface="Poppins"/>
              </a:rPr>
              <a:t>     - BBM Termasuk</a:t>
            </a:r>
          </a:p>
          <a:p>
            <a:pPr algn="just">
              <a:lnSpc>
                <a:spcPts val="2100"/>
              </a:lnSpc>
            </a:pPr>
            <a:r>
              <a:rPr lang="en-US" sz="1500">
                <a:solidFill>
                  <a:srgbClr val="000000"/>
                </a:solidFill>
                <a:latin typeface="Poppins"/>
                <a:ea typeface="Poppins"/>
                <a:cs typeface="Poppins"/>
                <a:sym typeface="Poppins"/>
              </a:rPr>
              <a:t>     - Cuci Mobil Gratis</a:t>
            </a:r>
          </a:p>
          <a:p>
            <a:pPr algn="just">
              <a:lnSpc>
                <a:spcPts val="2100"/>
              </a:lnSpc>
            </a:pPr>
            <a:r>
              <a:rPr lang="en-US" sz="1500">
                <a:solidFill>
                  <a:srgbClr val="000000"/>
                </a:solidFill>
                <a:latin typeface="Poppins"/>
                <a:ea typeface="Poppins"/>
                <a:cs typeface="Poppins"/>
                <a:sym typeface="Poppins"/>
              </a:rPr>
              <a:t>     - Servis &amp; Perawatan</a:t>
            </a:r>
          </a:p>
          <a:p>
            <a:pPr algn="just">
              <a:lnSpc>
                <a:spcPts val="2100"/>
              </a:lnSpc>
            </a:pPr>
            <a:r>
              <a:rPr lang="en-US" sz="1500">
                <a:solidFill>
                  <a:srgbClr val="000000"/>
                </a:solidFill>
                <a:latin typeface="Poppins"/>
                <a:ea typeface="Poppins"/>
                <a:cs typeface="Poppins"/>
                <a:sym typeface="Poppins"/>
              </a:rPr>
              <a:t>     - Asuransi Kendaran</a:t>
            </a:r>
          </a:p>
          <a:p>
            <a:pPr algn="just">
              <a:lnSpc>
                <a:spcPts val="2100"/>
              </a:lnSpc>
            </a:pPr>
          </a:p>
          <a:p>
            <a:pPr algn="just">
              <a:lnSpc>
                <a:spcPts val="2100"/>
              </a:lnSpc>
            </a:pPr>
            <a:r>
              <a:rPr lang="en-US" sz="1500">
                <a:solidFill>
                  <a:srgbClr val="000000"/>
                </a:solidFill>
                <a:latin typeface="Poppins"/>
                <a:ea typeface="Poppins"/>
                <a:cs typeface="Poppins"/>
                <a:sym typeface="Poppins"/>
              </a:rPr>
              <a:t>   3. Ikon Fasilitas Kendaraan</a:t>
            </a:r>
          </a:p>
          <a:p>
            <a:pPr algn="just">
              <a:lnSpc>
                <a:spcPts val="2100"/>
              </a:lnSpc>
            </a:pPr>
            <a:r>
              <a:rPr lang="en-US" sz="1500">
                <a:solidFill>
                  <a:srgbClr val="000000"/>
                </a:solidFill>
                <a:latin typeface="Poppins"/>
                <a:ea typeface="Poppins"/>
                <a:cs typeface="Poppins"/>
                <a:sym typeface="Poppins"/>
              </a:rPr>
              <a:t>     - AC</a:t>
            </a:r>
          </a:p>
          <a:p>
            <a:pPr algn="just">
              <a:lnSpc>
                <a:spcPts val="2100"/>
              </a:lnSpc>
            </a:pPr>
            <a:r>
              <a:rPr lang="en-US" sz="1500">
                <a:solidFill>
                  <a:srgbClr val="000000"/>
                </a:solidFill>
                <a:latin typeface="Poppins"/>
                <a:ea typeface="Poppins"/>
                <a:cs typeface="Poppins"/>
                <a:sym typeface="Poppins"/>
              </a:rPr>
              <a:t>     - TV/Audio</a:t>
            </a:r>
          </a:p>
          <a:p>
            <a:pPr algn="just">
              <a:lnSpc>
                <a:spcPts val="2100"/>
              </a:lnSpc>
            </a:pPr>
            <a:r>
              <a:rPr lang="en-US" sz="1500">
                <a:solidFill>
                  <a:srgbClr val="000000"/>
                </a:solidFill>
                <a:latin typeface="Poppins"/>
                <a:ea typeface="Poppins"/>
                <a:cs typeface="Poppins"/>
                <a:sym typeface="Poppins"/>
              </a:rPr>
              <a:t>     - Wifi</a:t>
            </a:r>
          </a:p>
          <a:p>
            <a:pPr algn="just">
              <a:lnSpc>
                <a:spcPts val="2100"/>
              </a:lnSpc>
            </a:pPr>
            <a:r>
              <a:rPr lang="en-US" sz="1500">
                <a:solidFill>
                  <a:srgbClr val="000000"/>
                </a:solidFill>
                <a:latin typeface="Poppins"/>
                <a:ea typeface="Poppins"/>
                <a:cs typeface="Poppins"/>
                <a:sym typeface="Poppins"/>
              </a:rPr>
              <a:t>     - Charger / port USB</a:t>
            </a:r>
          </a:p>
          <a:p>
            <a:pPr algn="just">
              <a:lnSpc>
                <a:spcPts val="2100"/>
              </a:lnSpc>
            </a:pPr>
            <a:r>
              <a:rPr lang="en-US" sz="1500">
                <a:solidFill>
                  <a:srgbClr val="000000"/>
                </a:solidFill>
                <a:latin typeface="Poppins"/>
                <a:ea typeface="Poppins"/>
                <a:cs typeface="Poppins"/>
                <a:sym typeface="Poppins"/>
              </a:rPr>
              <a:t>     - Bagasi Luas</a:t>
            </a:r>
          </a:p>
        </p:txBody>
      </p:sp>
      <p:sp>
        <p:nvSpPr>
          <p:cNvPr name="TextBox 26" id="26"/>
          <p:cNvSpPr txBox="true"/>
          <p:nvPr/>
        </p:nvSpPr>
        <p:spPr>
          <a:xfrm rot="0">
            <a:off x="9144000" y="3687049"/>
            <a:ext cx="6625170" cy="3743324"/>
          </a:xfrm>
          <a:prstGeom prst="rect">
            <a:avLst/>
          </a:prstGeom>
        </p:spPr>
        <p:txBody>
          <a:bodyPr anchor="t" rtlCol="false" tIns="0" lIns="0" bIns="0" rIns="0">
            <a:spAutoFit/>
          </a:bodyPr>
          <a:lstStyle/>
          <a:p>
            <a:pPr algn="just" marL="323858" indent="-161929" lvl="1">
              <a:lnSpc>
                <a:spcPts val="2100"/>
              </a:lnSpc>
              <a:buAutoNum type="arabicPeriod" startAt="1"/>
            </a:pPr>
            <a:r>
              <a:rPr lang="en-US" sz="1500">
                <a:solidFill>
                  <a:srgbClr val="000000"/>
                </a:solidFill>
                <a:latin typeface="Poppins"/>
                <a:ea typeface="Poppins"/>
                <a:cs typeface="Poppins"/>
                <a:sym typeface="Poppins"/>
              </a:rPr>
              <a:t> Ikon Fitur Aplikasi / Website</a:t>
            </a:r>
          </a:p>
          <a:p>
            <a:pPr algn="just">
              <a:lnSpc>
                <a:spcPts val="2100"/>
              </a:lnSpc>
            </a:pPr>
            <a:r>
              <a:rPr lang="en-US" sz="1500">
                <a:solidFill>
                  <a:srgbClr val="000000"/>
                </a:solidFill>
                <a:latin typeface="Poppins"/>
                <a:ea typeface="Poppins"/>
                <a:cs typeface="Poppins"/>
                <a:sym typeface="Poppins"/>
              </a:rPr>
              <a:t>     - Cari Kendaraan</a:t>
            </a:r>
          </a:p>
          <a:p>
            <a:pPr algn="just">
              <a:lnSpc>
                <a:spcPts val="2100"/>
              </a:lnSpc>
            </a:pPr>
            <a:r>
              <a:rPr lang="en-US" sz="1500">
                <a:solidFill>
                  <a:srgbClr val="000000"/>
                </a:solidFill>
                <a:latin typeface="Poppins"/>
                <a:ea typeface="Poppins"/>
                <a:cs typeface="Poppins"/>
                <a:sym typeface="Poppins"/>
              </a:rPr>
              <a:t>     - Booking</a:t>
            </a:r>
          </a:p>
          <a:p>
            <a:pPr algn="just">
              <a:lnSpc>
                <a:spcPts val="2100"/>
              </a:lnSpc>
            </a:pPr>
            <a:r>
              <a:rPr lang="en-US" sz="1500">
                <a:solidFill>
                  <a:srgbClr val="000000"/>
                </a:solidFill>
                <a:latin typeface="Poppins"/>
                <a:ea typeface="Poppins"/>
                <a:cs typeface="Poppins"/>
                <a:sym typeface="Poppins"/>
              </a:rPr>
              <a:t>     - Riwayat Sewa</a:t>
            </a:r>
          </a:p>
          <a:p>
            <a:pPr algn="just">
              <a:lnSpc>
                <a:spcPts val="2100"/>
              </a:lnSpc>
            </a:pPr>
            <a:r>
              <a:rPr lang="en-US" sz="1500">
                <a:solidFill>
                  <a:srgbClr val="000000"/>
                </a:solidFill>
                <a:latin typeface="Poppins"/>
                <a:ea typeface="Poppins"/>
                <a:cs typeface="Poppins"/>
                <a:sym typeface="Poppins"/>
              </a:rPr>
              <a:t>     - Pembayaran</a:t>
            </a:r>
          </a:p>
          <a:p>
            <a:pPr algn="just">
              <a:lnSpc>
                <a:spcPts val="2100"/>
              </a:lnSpc>
            </a:pPr>
            <a:r>
              <a:rPr lang="en-US" sz="1500">
                <a:solidFill>
                  <a:srgbClr val="000000"/>
                </a:solidFill>
                <a:latin typeface="Poppins"/>
                <a:ea typeface="Poppins"/>
                <a:cs typeface="Poppins"/>
                <a:sym typeface="Poppins"/>
              </a:rPr>
              <a:t>     - Lokasi Armada</a:t>
            </a:r>
          </a:p>
          <a:p>
            <a:pPr algn="just">
              <a:lnSpc>
                <a:spcPts val="2100"/>
              </a:lnSpc>
            </a:pPr>
            <a:r>
              <a:rPr lang="en-US" sz="1500">
                <a:solidFill>
                  <a:srgbClr val="000000"/>
                </a:solidFill>
                <a:latin typeface="Poppins"/>
                <a:ea typeface="Poppins"/>
                <a:cs typeface="Poppins"/>
                <a:sym typeface="Poppins"/>
              </a:rPr>
              <a:t>     - Faktur / Struk</a:t>
            </a:r>
          </a:p>
          <a:p>
            <a:pPr algn="just">
              <a:lnSpc>
                <a:spcPts val="2100"/>
              </a:lnSpc>
            </a:pPr>
          </a:p>
          <a:p>
            <a:pPr algn="just">
              <a:lnSpc>
                <a:spcPts val="2100"/>
              </a:lnSpc>
            </a:pPr>
            <a:r>
              <a:rPr lang="en-US" sz="1500">
                <a:solidFill>
                  <a:srgbClr val="000000"/>
                </a:solidFill>
                <a:latin typeface="Poppins"/>
                <a:ea typeface="Poppins"/>
                <a:cs typeface="Poppins"/>
                <a:sym typeface="Poppins"/>
              </a:rPr>
              <a:t>   5. Ikon Navigasi / Umum</a:t>
            </a:r>
          </a:p>
          <a:p>
            <a:pPr algn="just">
              <a:lnSpc>
                <a:spcPts val="2100"/>
              </a:lnSpc>
            </a:pPr>
            <a:r>
              <a:rPr lang="en-US" sz="1500">
                <a:solidFill>
                  <a:srgbClr val="000000"/>
                </a:solidFill>
                <a:latin typeface="Poppins"/>
                <a:ea typeface="Poppins"/>
                <a:cs typeface="Poppins"/>
                <a:sym typeface="Poppins"/>
              </a:rPr>
              <a:t>     - Beranda</a:t>
            </a:r>
          </a:p>
          <a:p>
            <a:pPr algn="just">
              <a:lnSpc>
                <a:spcPts val="2100"/>
              </a:lnSpc>
            </a:pPr>
            <a:r>
              <a:rPr lang="en-US" sz="1500">
                <a:solidFill>
                  <a:srgbClr val="000000"/>
                </a:solidFill>
                <a:latin typeface="Poppins"/>
                <a:ea typeface="Poppins"/>
                <a:cs typeface="Poppins"/>
                <a:sym typeface="Poppins"/>
              </a:rPr>
              <a:t>     - Kendaraan</a:t>
            </a:r>
          </a:p>
          <a:p>
            <a:pPr algn="just">
              <a:lnSpc>
                <a:spcPts val="2100"/>
              </a:lnSpc>
            </a:pPr>
            <a:r>
              <a:rPr lang="en-US" sz="1500">
                <a:solidFill>
                  <a:srgbClr val="000000"/>
                </a:solidFill>
                <a:latin typeface="Poppins"/>
                <a:ea typeface="Poppins"/>
                <a:cs typeface="Poppins"/>
                <a:sym typeface="Poppins"/>
              </a:rPr>
              <a:t>     - Pesan</a:t>
            </a:r>
          </a:p>
          <a:p>
            <a:pPr algn="just">
              <a:lnSpc>
                <a:spcPts val="2100"/>
              </a:lnSpc>
            </a:pPr>
            <a:r>
              <a:rPr lang="en-US" sz="1500">
                <a:solidFill>
                  <a:srgbClr val="000000"/>
                </a:solidFill>
                <a:latin typeface="Poppins"/>
                <a:ea typeface="Poppins"/>
                <a:cs typeface="Poppins"/>
                <a:sym typeface="Poppins"/>
              </a:rPr>
              <a:t>     - Tentang Kami</a:t>
            </a:r>
          </a:p>
          <a:p>
            <a:pPr algn="just">
              <a:lnSpc>
                <a:spcPts val="2100"/>
              </a:lnSpc>
            </a:pPr>
            <a:r>
              <a:rPr lang="en-US" sz="1500">
                <a:solidFill>
                  <a:srgbClr val="000000"/>
                </a:solidFill>
                <a:latin typeface="Poppins"/>
                <a:ea typeface="Poppins"/>
                <a:cs typeface="Poppins"/>
                <a:sym typeface="Poppins"/>
              </a:rPr>
              <a:t>     - Kontak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549246">
            <a:off x="7868874" y="-2628058"/>
            <a:ext cx="1156392" cy="4250824"/>
            <a:chOff x="0" y="0"/>
            <a:chExt cx="304564" cy="1119558"/>
          </a:xfrm>
        </p:grpSpPr>
        <p:sp>
          <p:nvSpPr>
            <p:cNvPr name="Freeform 7" id="7"/>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2B4A9D"/>
            </a:solidFill>
          </p:spPr>
        </p:sp>
        <p:sp>
          <p:nvSpPr>
            <p:cNvPr name="TextBox 8" id="8"/>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549246">
            <a:off x="1243998" y="8619543"/>
            <a:ext cx="1156392" cy="4250824"/>
            <a:chOff x="0" y="0"/>
            <a:chExt cx="304564" cy="1119558"/>
          </a:xfrm>
        </p:grpSpPr>
        <p:sp>
          <p:nvSpPr>
            <p:cNvPr name="Freeform 10" id="10"/>
            <p:cNvSpPr/>
            <p:nvPr/>
          </p:nvSpPr>
          <p:spPr>
            <a:xfrm flipH="false" flipV="false" rot="0">
              <a:off x="0" y="0"/>
              <a:ext cx="304564" cy="1119559"/>
            </a:xfrm>
            <a:custGeom>
              <a:avLst/>
              <a:gdLst/>
              <a:ahLst/>
              <a:cxnLst/>
              <a:rect r="r" b="b" t="t" l="l"/>
              <a:pathLst>
                <a:path h="1119559" w="304564">
                  <a:moveTo>
                    <a:pt x="152282" y="0"/>
                  </a:moveTo>
                  <a:lnTo>
                    <a:pt x="152282" y="0"/>
                  </a:lnTo>
                  <a:cubicBezTo>
                    <a:pt x="192670" y="0"/>
                    <a:pt x="231403" y="16044"/>
                    <a:pt x="259962" y="44602"/>
                  </a:cubicBezTo>
                  <a:cubicBezTo>
                    <a:pt x="288520" y="73161"/>
                    <a:pt x="304564" y="111894"/>
                    <a:pt x="304564" y="152282"/>
                  </a:cubicBezTo>
                  <a:lnTo>
                    <a:pt x="304564" y="967276"/>
                  </a:lnTo>
                  <a:cubicBezTo>
                    <a:pt x="304564" y="1051380"/>
                    <a:pt x="236385" y="1119559"/>
                    <a:pt x="152282" y="1119559"/>
                  </a:cubicBezTo>
                  <a:lnTo>
                    <a:pt x="152282" y="1119559"/>
                  </a:lnTo>
                  <a:cubicBezTo>
                    <a:pt x="111894" y="1119559"/>
                    <a:pt x="73161" y="1103515"/>
                    <a:pt x="44602" y="1074956"/>
                  </a:cubicBezTo>
                  <a:cubicBezTo>
                    <a:pt x="16044" y="1046398"/>
                    <a:pt x="0" y="1007664"/>
                    <a:pt x="0" y="967276"/>
                  </a:cubicBezTo>
                  <a:lnTo>
                    <a:pt x="0" y="152282"/>
                  </a:lnTo>
                  <a:cubicBezTo>
                    <a:pt x="0" y="68179"/>
                    <a:pt x="68179" y="0"/>
                    <a:pt x="152282" y="0"/>
                  </a:cubicBezTo>
                  <a:close/>
                </a:path>
              </a:pathLst>
            </a:custGeom>
            <a:solidFill>
              <a:srgbClr val="5271FF"/>
            </a:solidFill>
          </p:spPr>
        </p:sp>
        <p:sp>
          <p:nvSpPr>
            <p:cNvPr name="TextBox 11" id="11"/>
            <p:cNvSpPr txBox="true"/>
            <p:nvPr/>
          </p:nvSpPr>
          <p:spPr>
            <a:xfrm>
              <a:off x="0" y="-57150"/>
              <a:ext cx="304564" cy="11767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549246">
            <a:off x="-202210" y="2586474"/>
            <a:ext cx="1156392" cy="5114052"/>
            <a:chOff x="0" y="0"/>
            <a:chExt cx="304564" cy="1346911"/>
          </a:xfrm>
        </p:grpSpPr>
        <p:sp>
          <p:nvSpPr>
            <p:cNvPr name="Freeform 13" id="13"/>
            <p:cNvSpPr/>
            <p:nvPr/>
          </p:nvSpPr>
          <p:spPr>
            <a:xfrm flipH="false" flipV="false" rot="0">
              <a:off x="0" y="0"/>
              <a:ext cx="304564" cy="1346911"/>
            </a:xfrm>
            <a:custGeom>
              <a:avLst/>
              <a:gdLst/>
              <a:ahLst/>
              <a:cxnLst/>
              <a:rect r="r" b="b" t="t" l="l"/>
              <a:pathLst>
                <a:path h="1346911" w="304564">
                  <a:moveTo>
                    <a:pt x="152282" y="0"/>
                  </a:moveTo>
                  <a:lnTo>
                    <a:pt x="152282" y="0"/>
                  </a:lnTo>
                  <a:cubicBezTo>
                    <a:pt x="192670" y="0"/>
                    <a:pt x="231403" y="16044"/>
                    <a:pt x="259962" y="44602"/>
                  </a:cubicBezTo>
                  <a:cubicBezTo>
                    <a:pt x="288520" y="73161"/>
                    <a:pt x="304564" y="111894"/>
                    <a:pt x="304564" y="152282"/>
                  </a:cubicBezTo>
                  <a:lnTo>
                    <a:pt x="304564" y="1194629"/>
                  </a:lnTo>
                  <a:cubicBezTo>
                    <a:pt x="304564" y="1235017"/>
                    <a:pt x="288520" y="1273750"/>
                    <a:pt x="259962" y="1302308"/>
                  </a:cubicBezTo>
                  <a:cubicBezTo>
                    <a:pt x="231403" y="1330867"/>
                    <a:pt x="192670" y="1346911"/>
                    <a:pt x="152282" y="1346911"/>
                  </a:cubicBezTo>
                  <a:lnTo>
                    <a:pt x="152282" y="1346911"/>
                  </a:lnTo>
                  <a:cubicBezTo>
                    <a:pt x="68179" y="1346911"/>
                    <a:pt x="0" y="1278732"/>
                    <a:pt x="0" y="1194629"/>
                  </a:cubicBezTo>
                  <a:lnTo>
                    <a:pt x="0" y="152282"/>
                  </a:lnTo>
                  <a:cubicBezTo>
                    <a:pt x="0" y="68179"/>
                    <a:pt x="68179" y="0"/>
                    <a:pt x="152282" y="0"/>
                  </a:cubicBezTo>
                  <a:close/>
                </a:path>
              </a:pathLst>
            </a:custGeom>
            <a:solidFill>
              <a:srgbClr val="2B4A9D"/>
            </a:solidFill>
          </p:spPr>
        </p:sp>
        <p:sp>
          <p:nvSpPr>
            <p:cNvPr name="TextBox 14" id="14"/>
            <p:cNvSpPr txBox="true"/>
            <p:nvPr/>
          </p:nvSpPr>
          <p:spPr>
            <a:xfrm>
              <a:off x="0" y="-57150"/>
              <a:ext cx="304564" cy="140406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796311">
            <a:off x="14112080" y="-4254920"/>
            <a:ext cx="2239980" cy="8357096"/>
            <a:chOff x="0" y="0"/>
            <a:chExt cx="589953" cy="2201046"/>
          </a:xfrm>
        </p:grpSpPr>
        <p:sp>
          <p:nvSpPr>
            <p:cNvPr name="Freeform 16" id="16"/>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17" id="17"/>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2426433" y="2585746"/>
            <a:ext cx="6463120" cy="2842955"/>
          </a:xfrm>
          <a:custGeom>
            <a:avLst/>
            <a:gdLst/>
            <a:ahLst/>
            <a:cxnLst/>
            <a:rect r="r" b="b" t="t" l="l"/>
            <a:pathLst>
              <a:path h="2842955" w="6463120">
                <a:moveTo>
                  <a:pt x="0" y="0"/>
                </a:moveTo>
                <a:lnTo>
                  <a:pt x="6463120" y="0"/>
                </a:lnTo>
                <a:lnTo>
                  <a:pt x="6463120" y="2842955"/>
                </a:lnTo>
                <a:lnTo>
                  <a:pt x="0" y="2842955"/>
                </a:lnTo>
                <a:lnTo>
                  <a:pt x="0" y="0"/>
                </a:lnTo>
                <a:close/>
              </a:path>
            </a:pathLst>
          </a:custGeom>
          <a:blipFill>
            <a:blip r:embed="rId4"/>
            <a:stretch>
              <a:fillRect l="0" t="0" r="0" b="0"/>
            </a:stretch>
          </a:blipFill>
        </p:spPr>
      </p:sp>
      <p:sp>
        <p:nvSpPr>
          <p:cNvPr name="Freeform 19" id="19"/>
          <p:cNvSpPr/>
          <p:nvPr/>
        </p:nvSpPr>
        <p:spPr>
          <a:xfrm flipH="false" flipV="false" rot="0">
            <a:off x="2426433" y="5600151"/>
            <a:ext cx="6463120" cy="1915756"/>
          </a:xfrm>
          <a:custGeom>
            <a:avLst/>
            <a:gdLst/>
            <a:ahLst/>
            <a:cxnLst/>
            <a:rect r="r" b="b" t="t" l="l"/>
            <a:pathLst>
              <a:path h="1915756" w="6463120">
                <a:moveTo>
                  <a:pt x="0" y="0"/>
                </a:moveTo>
                <a:lnTo>
                  <a:pt x="6463120" y="0"/>
                </a:lnTo>
                <a:lnTo>
                  <a:pt x="6463120" y="1915756"/>
                </a:lnTo>
                <a:lnTo>
                  <a:pt x="0" y="1915756"/>
                </a:lnTo>
                <a:lnTo>
                  <a:pt x="0" y="0"/>
                </a:lnTo>
                <a:close/>
              </a:path>
            </a:pathLst>
          </a:custGeom>
          <a:blipFill>
            <a:blip r:embed="rId5"/>
            <a:stretch>
              <a:fillRect l="0" t="0" r="0" b="0"/>
            </a:stretch>
          </a:blipFill>
        </p:spPr>
      </p:sp>
      <p:sp>
        <p:nvSpPr>
          <p:cNvPr name="Freeform 20" id="20"/>
          <p:cNvSpPr/>
          <p:nvPr/>
        </p:nvSpPr>
        <p:spPr>
          <a:xfrm flipH="false" flipV="false" rot="0">
            <a:off x="9308653" y="2610358"/>
            <a:ext cx="6463120" cy="2986384"/>
          </a:xfrm>
          <a:custGeom>
            <a:avLst/>
            <a:gdLst/>
            <a:ahLst/>
            <a:cxnLst/>
            <a:rect r="r" b="b" t="t" l="l"/>
            <a:pathLst>
              <a:path h="2986384" w="6463120">
                <a:moveTo>
                  <a:pt x="0" y="0"/>
                </a:moveTo>
                <a:lnTo>
                  <a:pt x="6463120" y="0"/>
                </a:lnTo>
                <a:lnTo>
                  <a:pt x="6463120" y="2986384"/>
                </a:lnTo>
                <a:lnTo>
                  <a:pt x="0" y="2986384"/>
                </a:lnTo>
                <a:lnTo>
                  <a:pt x="0" y="0"/>
                </a:lnTo>
                <a:close/>
              </a:path>
            </a:pathLst>
          </a:custGeom>
          <a:blipFill>
            <a:blip r:embed="rId6"/>
            <a:stretch>
              <a:fillRect l="0" t="0" r="0" b="0"/>
            </a:stretch>
          </a:blipFill>
        </p:spPr>
      </p:sp>
      <p:sp>
        <p:nvSpPr>
          <p:cNvPr name="Freeform 21" id="21"/>
          <p:cNvSpPr/>
          <p:nvPr/>
        </p:nvSpPr>
        <p:spPr>
          <a:xfrm flipH="false" flipV="false" rot="0">
            <a:off x="9308653" y="6047826"/>
            <a:ext cx="6463120" cy="2859999"/>
          </a:xfrm>
          <a:custGeom>
            <a:avLst/>
            <a:gdLst/>
            <a:ahLst/>
            <a:cxnLst/>
            <a:rect r="r" b="b" t="t" l="l"/>
            <a:pathLst>
              <a:path h="2859999" w="6463120">
                <a:moveTo>
                  <a:pt x="0" y="0"/>
                </a:moveTo>
                <a:lnTo>
                  <a:pt x="6463120" y="0"/>
                </a:lnTo>
                <a:lnTo>
                  <a:pt x="6463120" y="2859999"/>
                </a:lnTo>
                <a:lnTo>
                  <a:pt x="0" y="2859999"/>
                </a:lnTo>
                <a:lnTo>
                  <a:pt x="0" y="0"/>
                </a:lnTo>
                <a:close/>
              </a:path>
            </a:pathLst>
          </a:custGeom>
          <a:blipFill>
            <a:blip r:embed="rId7"/>
            <a:stretch>
              <a:fillRect l="0" t="0" r="0" b="0"/>
            </a:stretch>
          </a:blipFill>
        </p:spPr>
      </p:sp>
      <p:sp>
        <p:nvSpPr>
          <p:cNvPr name="Freeform 22" id="22"/>
          <p:cNvSpPr/>
          <p:nvPr/>
        </p:nvSpPr>
        <p:spPr>
          <a:xfrm flipH="false" flipV="false" rot="0">
            <a:off x="2425495" y="7687357"/>
            <a:ext cx="6464058" cy="2193284"/>
          </a:xfrm>
          <a:custGeom>
            <a:avLst/>
            <a:gdLst/>
            <a:ahLst/>
            <a:cxnLst/>
            <a:rect r="r" b="b" t="t" l="l"/>
            <a:pathLst>
              <a:path h="2193284" w="6464058">
                <a:moveTo>
                  <a:pt x="0" y="0"/>
                </a:moveTo>
                <a:lnTo>
                  <a:pt x="6464058" y="0"/>
                </a:lnTo>
                <a:lnTo>
                  <a:pt x="6464058" y="2193284"/>
                </a:lnTo>
                <a:lnTo>
                  <a:pt x="0" y="2193284"/>
                </a:lnTo>
                <a:lnTo>
                  <a:pt x="0" y="0"/>
                </a:lnTo>
                <a:close/>
              </a:path>
            </a:pathLst>
          </a:custGeom>
          <a:blipFill>
            <a:blip r:embed="rId8"/>
            <a:stretch>
              <a:fillRect l="0" t="0" r="0" b="0"/>
            </a:stretch>
          </a:blipFill>
        </p:spPr>
      </p:sp>
      <p:sp>
        <p:nvSpPr>
          <p:cNvPr name="TextBox 23" id="23"/>
          <p:cNvSpPr txBox="true"/>
          <p:nvPr/>
        </p:nvSpPr>
        <p:spPr>
          <a:xfrm rot="0">
            <a:off x="3055930" y="1165516"/>
            <a:ext cx="12176139" cy="1250950"/>
          </a:xfrm>
          <a:prstGeom prst="rect">
            <a:avLst/>
          </a:prstGeom>
        </p:spPr>
        <p:txBody>
          <a:bodyPr anchor="t" rtlCol="false" tIns="0" lIns="0" bIns="0" rIns="0">
            <a:spAutoFit/>
          </a:bodyPr>
          <a:lstStyle/>
          <a:p>
            <a:pPr algn="ctr">
              <a:lnSpc>
                <a:spcPts val="9799"/>
              </a:lnSpc>
            </a:pPr>
            <a:r>
              <a:rPr lang="en-US" b="true" sz="6999">
                <a:solidFill>
                  <a:srgbClr val="2B4A9D"/>
                </a:solidFill>
                <a:latin typeface="Poppins Bold"/>
                <a:ea typeface="Poppins Bold"/>
                <a:cs typeface="Poppins Bold"/>
                <a:sym typeface="Poppins Bold"/>
              </a:rPr>
              <a:t>TAMPILAN WEB</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1549246">
            <a:off x="3823888" y="-1836038"/>
            <a:ext cx="1156392" cy="12187444"/>
            <a:chOff x="0" y="0"/>
            <a:chExt cx="304564" cy="3209862"/>
          </a:xfrm>
        </p:grpSpPr>
        <p:sp>
          <p:nvSpPr>
            <p:cNvPr name="Freeform 3" id="3"/>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4" id="4"/>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549246">
            <a:off x="6767380" y="-109269"/>
            <a:ext cx="1156392" cy="12187444"/>
            <a:chOff x="0" y="0"/>
            <a:chExt cx="304564" cy="3209862"/>
          </a:xfrm>
        </p:grpSpPr>
        <p:sp>
          <p:nvSpPr>
            <p:cNvPr name="Freeform 6" id="6"/>
            <p:cNvSpPr/>
            <p:nvPr/>
          </p:nvSpPr>
          <p:spPr>
            <a:xfrm flipH="false" flipV="false" rot="0">
              <a:off x="0" y="0"/>
              <a:ext cx="304564" cy="3209862"/>
            </a:xfrm>
            <a:custGeom>
              <a:avLst/>
              <a:gdLst/>
              <a:ahLst/>
              <a:cxnLst/>
              <a:rect r="r" b="b" t="t" l="l"/>
              <a:pathLst>
                <a:path h="3209862" w="304564">
                  <a:moveTo>
                    <a:pt x="152282" y="0"/>
                  </a:moveTo>
                  <a:lnTo>
                    <a:pt x="152282" y="0"/>
                  </a:lnTo>
                  <a:cubicBezTo>
                    <a:pt x="192670" y="0"/>
                    <a:pt x="231403" y="16044"/>
                    <a:pt x="259962" y="44602"/>
                  </a:cubicBezTo>
                  <a:cubicBezTo>
                    <a:pt x="288520" y="73161"/>
                    <a:pt x="304564" y="111894"/>
                    <a:pt x="304564" y="152282"/>
                  </a:cubicBezTo>
                  <a:lnTo>
                    <a:pt x="304564" y="3057580"/>
                  </a:lnTo>
                  <a:cubicBezTo>
                    <a:pt x="304564" y="3097967"/>
                    <a:pt x="288520" y="3136701"/>
                    <a:pt x="259962" y="3165259"/>
                  </a:cubicBezTo>
                  <a:cubicBezTo>
                    <a:pt x="231403" y="3193818"/>
                    <a:pt x="192670" y="3209862"/>
                    <a:pt x="152282" y="3209862"/>
                  </a:cubicBezTo>
                  <a:lnTo>
                    <a:pt x="152282" y="3209862"/>
                  </a:lnTo>
                  <a:cubicBezTo>
                    <a:pt x="68179" y="3209862"/>
                    <a:pt x="0" y="3141683"/>
                    <a:pt x="0" y="3057580"/>
                  </a:cubicBezTo>
                  <a:lnTo>
                    <a:pt x="0" y="152282"/>
                  </a:lnTo>
                  <a:cubicBezTo>
                    <a:pt x="0" y="68179"/>
                    <a:pt x="68179" y="0"/>
                    <a:pt x="152282" y="0"/>
                  </a:cubicBezTo>
                  <a:close/>
                </a:path>
              </a:pathLst>
            </a:custGeom>
            <a:solidFill>
              <a:srgbClr val="5271FF"/>
            </a:solidFill>
          </p:spPr>
        </p:sp>
        <p:sp>
          <p:nvSpPr>
            <p:cNvPr name="TextBox 7" id="7"/>
            <p:cNvSpPr txBox="true"/>
            <p:nvPr/>
          </p:nvSpPr>
          <p:spPr>
            <a:xfrm>
              <a:off x="0" y="-57150"/>
              <a:ext cx="304564" cy="32670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1861801"/>
            <a:ext cx="15274330" cy="7197190"/>
            <a:chOff x="0" y="0"/>
            <a:chExt cx="4022869" cy="1895556"/>
          </a:xfrm>
        </p:grpSpPr>
        <p:sp>
          <p:nvSpPr>
            <p:cNvPr name="Freeform 9" id="9"/>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E2E2E2"/>
            </a:solidFill>
          </p:spPr>
        </p:sp>
        <p:sp>
          <p:nvSpPr>
            <p:cNvPr name="TextBox 10" id="10"/>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6835" y="1544905"/>
            <a:ext cx="15274330" cy="7197190"/>
            <a:chOff x="0" y="0"/>
            <a:chExt cx="4022869" cy="1895556"/>
          </a:xfrm>
        </p:grpSpPr>
        <p:sp>
          <p:nvSpPr>
            <p:cNvPr name="Freeform 12" id="12"/>
            <p:cNvSpPr/>
            <p:nvPr/>
          </p:nvSpPr>
          <p:spPr>
            <a:xfrm flipH="false" flipV="false" rot="0">
              <a:off x="0" y="0"/>
              <a:ext cx="4022869" cy="1895556"/>
            </a:xfrm>
            <a:custGeom>
              <a:avLst/>
              <a:gdLst/>
              <a:ahLst/>
              <a:cxnLst/>
              <a:rect r="r" b="b" t="t" l="l"/>
              <a:pathLst>
                <a:path h="1895556" w="4022869">
                  <a:moveTo>
                    <a:pt x="50686" y="0"/>
                  </a:moveTo>
                  <a:lnTo>
                    <a:pt x="3972183" y="0"/>
                  </a:lnTo>
                  <a:cubicBezTo>
                    <a:pt x="3985626" y="0"/>
                    <a:pt x="3998518" y="5340"/>
                    <a:pt x="4008023" y="14846"/>
                  </a:cubicBezTo>
                  <a:cubicBezTo>
                    <a:pt x="4017529" y="24351"/>
                    <a:pt x="4022869" y="37243"/>
                    <a:pt x="4022869" y="50686"/>
                  </a:cubicBezTo>
                  <a:lnTo>
                    <a:pt x="4022869" y="1844870"/>
                  </a:lnTo>
                  <a:cubicBezTo>
                    <a:pt x="4022869" y="1858313"/>
                    <a:pt x="4017529" y="1871205"/>
                    <a:pt x="4008023" y="1880711"/>
                  </a:cubicBezTo>
                  <a:cubicBezTo>
                    <a:pt x="3998518" y="1890216"/>
                    <a:pt x="3985626" y="1895556"/>
                    <a:pt x="3972183" y="1895556"/>
                  </a:cubicBezTo>
                  <a:lnTo>
                    <a:pt x="50686" y="1895556"/>
                  </a:lnTo>
                  <a:cubicBezTo>
                    <a:pt x="37243" y="1895556"/>
                    <a:pt x="24351" y="1890216"/>
                    <a:pt x="14846" y="1880711"/>
                  </a:cubicBezTo>
                  <a:cubicBezTo>
                    <a:pt x="5340" y="1871205"/>
                    <a:pt x="0" y="1858313"/>
                    <a:pt x="0" y="1844870"/>
                  </a:cubicBezTo>
                  <a:lnTo>
                    <a:pt x="0" y="50686"/>
                  </a:lnTo>
                  <a:cubicBezTo>
                    <a:pt x="0" y="37243"/>
                    <a:pt x="5340" y="24351"/>
                    <a:pt x="14846" y="14846"/>
                  </a:cubicBezTo>
                  <a:cubicBezTo>
                    <a:pt x="24351" y="5340"/>
                    <a:pt x="37243" y="0"/>
                    <a:pt x="50686" y="0"/>
                  </a:cubicBezTo>
                  <a:close/>
                </a:path>
              </a:pathLst>
            </a:custGeom>
            <a:solidFill>
              <a:srgbClr val="2B4A9D"/>
            </a:solidFill>
          </p:spPr>
        </p:sp>
        <p:sp>
          <p:nvSpPr>
            <p:cNvPr name="TextBox 13" id="13"/>
            <p:cNvSpPr txBox="true"/>
            <p:nvPr/>
          </p:nvSpPr>
          <p:spPr>
            <a:xfrm>
              <a:off x="0" y="-57150"/>
              <a:ext cx="4022869" cy="1952706"/>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1796311">
            <a:off x="17168010" y="7246436"/>
            <a:ext cx="2239980" cy="8357096"/>
            <a:chOff x="0" y="0"/>
            <a:chExt cx="589953" cy="2201046"/>
          </a:xfrm>
        </p:grpSpPr>
        <p:sp>
          <p:nvSpPr>
            <p:cNvPr name="Freeform 15" id="15"/>
            <p:cNvSpPr/>
            <p:nvPr/>
          </p:nvSpPr>
          <p:spPr>
            <a:xfrm flipH="false" flipV="false" rot="0">
              <a:off x="0" y="0"/>
              <a:ext cx="589953" cy="2201046"/>
            </a:xfrm>
            <a:custGeom>
              <a:avLst/>
              <a:gdLst/>
              <a:ahLst/>
              <a:cxnLst/>
              <a:rect r="r" b="b" t="t" l="l"/>
              <a:pathLst>
                <a:path h="2201046" w="589953">
                  <a:moveTo>
                    <a:pt x="294977" y="0"/>
                  </a:moveTo>
                  <a:lnTo>
                    <a:pt x="294977" y="0"/>
                  </a:lnTo>
                  <a:cubicBezTo>
                    <a:pt x="457888" y="0"/>
                    <a:pt x="589953" y="132066"/>
                    <a:pt x="589953" y="294977"/>
                  </a:cubicBezTo>
                  <a:lnTo>
                    <a:pt x="589953" y="1906069"/>
                  </a:lnTo>
                  <a:cubicBezTo>
                    <a:pt x="589953" y="2068980"/>
                    <a:pt x="457888" y="2201046"/>
                    <a:pt x="294977" y="2201046"/>
                  </a:cubicBezTo>
                  <a:lnTo>
                    <a:pt x="294977" y="2201046"/>
                  </a:lnTo>
                  <a:cubicBezTo>
                    <a:pt x="132066" y="2201046"/>
                    <a:pt x="0" y="2068980"/>
                    <a:pt x="0" y="1906069"/>
                  </a:cubicBezTo>
                  <a:lnTo>
                    <a:pt x="0" y="294977"/>
                  </a:lnTo>
                  <a:cubicBezTo>
                    <a:pt x="0" y="132066"/>
                    <a:pt x="132066" y="0"/>
                    <a:pt x="294977" y="0"/>
                  </a:cubicBezTo>
                  <a:close/>
                </a:path>
              </a:pathLst>
            </a:custGeom>
            <a:solidFill>
              <a:srgbClr val="5271FF"/>
            </a:solidFill>
          </p:spPr>
        </p:sp>
        <p:sp>
          <p:nvSpPr>
            <p:cNvPr name="TextBox 16" id="16"/>
            <p:cNvSpPr txBox="true"/>
            <p:nvPr/>
          </p:nvSpPr>
          <p:spPr>
            <a:xfrm>
              <a:off x="0" y="-57150"/>
              <a:ext cx="589953" cy="225819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796311">
            <a:off x="15460419" y="-2784700"/>
            <a:ext cx="2239980" cy="4379762"/>
            <a:chOff x="0" y="0"/>
            <a:chExt cx="589953" cy="1153518"/>
          </a:xfrm>
        </p:grpSpPr>
        <p:sp>
          <p:nvSpPr>
            <p:cNvPr name="Freeform 18" id="18"/>
            <p:cNvSpPr/>
            <p:nvPr/>
          </p:nvSpPr>
          <p:spPr>
            <a:xfrm flipH="false" flipV="false" rot="0">
              <a:off x="0" y="0"/>
              <a:ext cx="589953" cy="1153518"/>
            </a:xfrm>
            <a:custGeom>
              <a:avLst/>
              <a:gdLst/>
              <a:ahLst/>
              <a:cxnLst/>
              <a:rect r="r" b="b" t="t" l="l"/>
              <a:pathLst>
                <a:path h="1153518" w="589953">
                  <a:moveTo>
                    <a:pt x="294977" y="0"/>
                  </a:moveTo>
                  <a:lnTo>
                    <a:pt x="294977" y="0"/>
                  </a:lnTo>
                  <a:cubicBezTo>
                    <a:pt x="457888" y="0"/>
                    <a:pt x="589953" y="132066"/>
                    <a:pt x="589953" y="294977"/>
                  </a:cubicBezTo>
                  <a:lnTo>
                    <a:pt x="589953" y="858541"/>
                  </a:lnTo>
                  <a:cubicBezTo>
                    <a:pt x="589953" y="1021452"/>
                    <a:pt x="457888" y="1153518"/>
                    <a:pt x="294977" y="1153518"/>
                  </a:cubicBezTo>
                  <a:lnTo>
                    <a:pt x="294977" y="1153518"/>
                  </a:lnTo>
                  <a:cubicBezTo>
                    <a:pt x="132066" y="1153518"/>
                    <a:pt x="0" y="1021452"/>
                    <a:pt x="0" y="858541"/>
                  </a:cubicBezTo>
                  <a:lnTo>
                    <a:pt x="0" y="294977"/>
                  </a:lnTo>
                  <a:cubicBezTo>
                    <a:pt x="0" y="132066"/>
                    <a:pt x="132066" y="0"/>
                    <a:pt x="294977" y="0"/>
                  </a:cubicBezTo>
                  <a:close/>
                </a:path>
              </a:pathLst>
            </a:custGeom>
            <a:solidFill>
              <a:srgbClr val="2B4A9D"/>
            </a:solidFill>
          </p:spPr>
        </p:sp>
        <p:sp>
          <p:nvSpPr>
            <p:cNvPr name="TextBox 19" id="19"/>
            <p:cNvSpPr txBox="true"/>
            <p:nvPr/>
          </p:nvSpPr>
          <p:spPr>
            <a:xfrm>
              <a:off x="0" y="-57150"/>
              <a:ext cx="589953" cy="121066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1549246">
            <a:off x="426585" y="8882918"/>
            <a:ext cx="1156392" cy="2223868"/>
            <a:chOff x="0" y="0"/>
            <a:chExt cx="304564" cy="585710"/>
          </a:xfrm>
        </p:grpSpPr>
        <p:sp>
          <p:nvSpPr>
            <p:cNvPr name="Freeform 21" id="21"/>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2" id="22"/>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1549246">
            <a:off x="9194643" y="-1111934"/>
            <a:ext cx="1156392" cy="2223868"/>
            <a:chOff x="0" y="0"/>
            <a:chExt cx="304564" cy="585710"/>
          </a:xfrm>
        </p:grpSpPr>
        <p:sp>
          <p:nvSpPr>
            <p:cNvPr name="Freeform 24" id="24"/>
            <p:cNvSpPr/>
            <p:nvPr/>
          </p:nvSpPr>
          <p:spPr>
            <a:xfrm flipH="false" flipV="false" rot="0">
              <a:off x="0" y="0"/>
              <a:ext cx="304564" cy="585710"/>
            </a:xfrm>
            <a:custGeom>
              <a:avLst/>
              <a:gdLst/>
              <a:ahLst/>
              <a:cxnLst/>
              <a:rect r="r" b="b" t="t" l="l"/>
              <a:pathLst>
                <a:path h="585710" w="304564">
                  <a:moveTo>
                    <a:pt x="152282" y="0"/>
                  </a:moveTo>
                  <a:lnTo>
                    <a:pt x="152282" y="0"/>
                  </a:lnTo>
                  <a:cubicBezTo>
                    <a:pt x="192670" y="0"/>
                    <a:pt x="231403" y="16044"/>
                    <a:pt x="259962" y="44602"/>
                  </a:cubicBezTo>
                  <a:cubicBezTo>
                    <a:pt x="288520" y="73161"/>
                    <a:pt x="304564" y="111894"/>
                    <a:pt x="304564" y="152282"/>
                  </a:cubicBezTo>
                  <a:lnTo>
                    <a:pt x="304564" y="433428"/>
                  </a:lnTo>
                  <a:cubicBezTo>
                    <a:pt x="304564" y="517531"/>
                    <a:pt x="236385" y="585710"/>
                    <a:pt x="152282" y="585710"/>
                  </a:cubicBezTo>
                  <a:lnTo>
                    <a:pt x="152282" y="585710"/>
                  </a:lnTo>
                  <a:cubicBezTo>
                    <a:pt x="111894" y="585710"/>
                    <a:pt x="73161" y="569666"/>
                    <a:pt x="44602" y="541108"/>
                  </a:cubicBezTo>
                  <a:cubicBezTo>
                    <a:pt x="16044" y="512549"/>
                    <a:pt x="0" y="473816"/>
                    <a:pt x="0" y="433428"/>
                  </a:cubicBezTo>
                  <a:lnTo>
                    <a:pt x="0" y="152282"/>
                  </a:lnTo>
                  <a:cubicBezTo>
                    <a:pt x="0" y="68179"/>
                    <a:pt x="68179" y="0"/>
                    <a:pt x="152282" y="0"/>
                  </a:cubicBezTo>
                  <a:close/>
                </a:path>
              </a:pathLst>
            </a:custGeom>
            <a:solidFill>
              <a:srgbClr val="2B4A9D"/>
            </a:solidFill>
          </p:spPr>
        </p:sp>
        <p:sp>
          <p:nvSpPr>
            <p:cNvPr name="TextBox 25" id="25"/>
            <p:cNvSpPr txBox="true"/>
            <p:nvPr/>
          </p:nvSpPr>
          <p:spPr>
            <a:xfrm>
              <a:off x="0" y="-57150"/>
              <a:ext cx="304564" cy="64286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3771037" y="1680826"/>
            <a:ext cx="10745927" cy="1095375"/>
          </a:xfrm>
          <a:prstGeom prst="rect">
            <a:avLst/>
          </a:prstGeom>
        </p:spPr>
        <p:txBody>
          <a:bodyPr anchor="t" rtlCol="false" tIns="0" lIns="0" bIns="0" rIns="0">
            <a:spAutoFit/>
          </a:bodyPr>
          <a:lstStyle/>
          <a:p>
            <a:pPr algn="ctr">
              <a:lnSpc>
                <a:spcPts val="8400"/>
              </a:lnSpc>
            </a:pPr>
            <a:r>
              <a:rPr lang="en-US" b="true" sz="6000">
                <a:solidFill>
                  <a:srgbClr val="FFFFFF"/>
                </a:solidFill>
                <a:latin typeface="Poppins Bold"/>
                <a:ea typeface="Poppins Bold"/>
                <a:cs typeface="Poppins Bold"/>
                <a:sym typeface="Poppins Bold"/>
              </a:rPr>
              <a:t>KESIMPULAN</a:t>
            </a:r>
          </a:p>
        </p:txBody>
      </p:sp>
      <p:sp>
        <p:nvSpPr>
          <p:cNvPr name="TextBox 27" id="27"/>
          <p:cNvSpPr txBox="true"/>
          <p:nvPr/>
        </p:nvSpPr>
        <p:spPr>
          <a:xfrm rot="0">
            <a:off x="2009561" y="2728576"/>
            <a:ext cx="14031908" cy="5343525"/>
          </a:xfrm>
          <a:prstGeom prst="rect">
            <a:avLst/>
          </a:prstGeom>
        </p:spPr>
        <p:txBody>
          <a:bodyPr anchor="t" rtlCol="false" tIns="0" lIns="0" bIns="0" rIns="0">
            <a:spAutoFit/>
          </a:bodyPr>
          <a:lstStyle/>
          <a:p>
            <a:pPr algn="l">
              <a:lnSpc>
                <a:spcPts val="2100"/>
              </a:lnSpc>
            </a:pPr>
            <a:r>
              <a:rPr lang="en-US" sz="1500">
                <a:solidFill>
                  <a:srgbClr val="FFFFFF"/>
                </a:solidFill>
                <a:latin typeface="Poppins"/>
                <a:ea typeface="Poppins"/>
                <a:cs typeface="Poppins"/>
                <a:sym typeface="Poppins"/>
              </a:rPr>
              <a:t>1. Website Mudah Digunakan</a:t>
            </a:r>
          </a:p>
          <a:p>
            <a:pPr algn="l" marL="323850" indent="-161925" lvl="1">
              <a:lnSpc>
                <a:spcPts val="2100"/>
              </a:lnSpc>
              <a:buFont typeface="Arial"/>
              <a:buChar char="•"/>
            </a:pPr>
            <a:r>
              <a:rPr lang="en-US" sz="1500">
                <a:solidFill>
                  <a:srgbClr val="FFFFFF"/>
                </a:solidFill>
                <a:latin typeface="Poppins"/>
                <a:ea typeface="Poppins"/>
                <a:cs typeface="Poppins"/>
                <a:sym typeface="Poppins"/>
              </a:rPr>
              <a:t>Menyediakan form pemesanan yang jelas &amp; sederhana</a:t>
            </a:r>
          </a:p>
          <a:p>
            <a:pPr algn="l" marL="323850" indent="-161925" lvl="1">
              <a:lnSpc>
                <a:spcPts val="2100"/>
              </a:lnSpc>
              <a:buFont typeface="Arial"/>
              <a:buChar char="•"/>
            </a:pPr>
            <a:r>
              <a:rPr lang="en-US" sz="1500">
                <a:solidFill>
                  <a:srgbClr val="FFFFFF"/>
                </a:solidFill>
                <a:latin typeface="Poppins"/>
                <a:ea typeface="Poppins"/>
                <a:cs typeface="Poppins"/>
                <a:sym typeface="Poppins"/>
              </a:rPr>
              <a:t>Input tanggal sewa, pengembalian, dan jenis kendaraan</a:t>
            </a:r>
          </a:p>
          <a:p>
            <a:pPr algn="l" marL="323850" indent="-161925" lvl="1">
              <a:lnSpc>
                <a:spcPts val="2100"/>
              </a:lnSpc>
              <a:buFont typeface="Arial"/>
              <a:buChar char="•"/>
            </a:pPr>
            <a:r>
              <a:rPr lang="en-US" sz="1500">
                <a:solidFill>
                  <a:srgbClr val="FFFFFF"/>
                </a:solidFill>
                <a:latin typeface="Poppins"/>
                <a:ea typeface="Poppins"/>
                <a:cs typeface="Poppins"/>
                <a:sym typeface="Poppins"/>
              </a:rPr>
              <a:t>Menghitung total harga otomatis</a:t>
            </a:r>
          </a:p>
          <a:p>
            <a:pPr algn="l">
              <a:lnSpc>
                <a:spcPts val="2100"/>
              </a:lnSpc>
            </a:pPr>
            <a:r>
              <a:rPr lang="en-US" sz="1500">
                <a:solidFill>
                  <a:srgbClr val="FFFFFF"/>
                </a:solidFill>
                <a:latin typeface="Poppins"/>
                <a:ea typeface="Poppins"/>
                <a:cs typeface="Poppins"/>
                <a:sym typeface="Poppins"/>
              </a:rPr>
              <a:t>2. Tampilan Modern &amp; Profesional</a:t>
            </a:r>
          </a:p>
          <a:p>
            <a:pPr algn="l" marL="323850" indent="-161925" lvl="1">
              <a:lnSpc>
                <a:spcPts val="2100"/>
              </a:lnSpc>
              <a:buFont typeface="Arial"/>
              <a:buChar char="•"/>
            </a:pPr>
            <a:r>
              <a:rPr lang="en-US" sz="1500">
                <a:solidFill>
                  <a:srgbClr val="FFFFFF"/>
                </a:solidFill>
                <a:latin typeface="Poppins"/>
                <a:ea typeface="Poppins"/>
                <a:cs typeface="Poppins"/>
                <a:sym typeface="Poppins"/>
              </a:rPr>
              <a:t>Desain menggunakan HTML + CSS yang bersih</a:t>
            </a:r>
          </a:p>
          <a:p>
            <a:pPr algn="l" marL="323850" indent="-161925" lvl="1">
              <a:lnSpc>
                <a:spcPts val="2100"/>
              </a:lnSpc>
              <a:buFont typeface="Arial"/>
              <a:buChar char="•"/>
            </a:pPr>
            <a:r>
              <a:rPr lang="en-US" sz="1500">
                <a:solidFill>
                  <a:srgbClr val="FFFFFF"/>
                </a:solidFill>
                <a:latin typeface="Poppins"/>
                <a:ea typeface="Poppins"/>
                <a:cs typeface="Poppins"/>
                <a:sym typeface="Poppins"/>
              </a:rPr>
              <a:t>Warna konsisten dan elemen responsif</a:t>
            </a:r>
          </a:p>
          <a:p>
            <a:pPr algn="l" marL="323850" indent="-161925" lvl="1">
              <a:lnSpc>
                <a:spcPts val="2100"/>
              </a:lnSpc>
              <a:buFont typeface="Arial"/>
              <a:buChar char="•"/>
            </a:pPr>
            <a:r>
              <a:rPr lang="en-US" sz="1500">
                <a:solidFill>
                  <a:srgbClr val="FFFFFF"/>
                </a:solidFill>
                <a:latin typeface="Poppins"/>
                <a:ea typeface="Poppins"/>
                <a:cs typeface="Poppins"/>
                <a:sym typeface="Poppins"/>
              </a:rPr>
              <a:t>Memberikan kesan bisnis rental yang terpercaya</a:t>
            </a:r>
          </a:p>
          <a:p>
            <a:pPr algn="l">
              <a:lnSpc>
                <a:spcPts val="2100"/>
              </a:lnSpc>
            </a:pPr>
            <a:r>
              <a:rPr lang="en-US" sz="1500">
                <a:solidFill>
                  <a:srgbClr val="FFFFFF"/>
                </a:solidFill>
                <a:latin typeface="Poppins"/>
                <a:ea typeface="Poppins"/>
                <a:cs typeface="Poppins"/>
                <a:sym typeface="Poppins"/>
              </a:rPr>
              <a:t>3. Fitur Penting Rental Kendaraan</a:t>
            </a:r>
          </a:p>
          <a:p>
            <a:pPr algn="l" marL="323850" indent="-161925" lvl="1">
              <a:lnSpc>
                <a:spcPts val="2100"/>
              </a:lnSpc>
              <a:buFont typeface="Arial"/>
              <a:buChar char="•"/>
            </a:pPr>
            <a:r>
              <a:rPr lang="en-US" sz="1500">
                <a:solidFill>
                  <a:srgbClr val="FFFFFF"/>
                </a:solidFill>
                <a:latin typeface="Poppins"/>
                <a:ea typeface="Poppins"/>
                <a:cs typeface="Poppins"/>
                <a:sym typeface="Poppins"/>
              </a:rPr>
              <a:t>Form pemesanan lengkap</a:t>
            </a:r>
          </a:p>
          <a:p>
            <a:pPr algn="l" marL="323850" indent="-161925" lvl="1">
              <a:lnSpc>
                <a:spcPts val="2100"/>
              </a:lnSpc>
              <a:buFont typeface="Arial"/>
              <a:buChar char="•"/>
            </a:pPr>
            <a:r>
              <a:rPr lang="en-US" sz="1500">
                <a:solidFill>
                  <a:srgbClr val="FFFFFF"/>
                </a:solidFill>
                <a:latin typeface="Poppins"/>
                <a:ea typeface="Poppins"/>
                <a:cs typeface="Poppins"/>
                <a:sym typeface="Poppins"/>
              </a:rPr>
              <a:t>Kalkulator harga berbasis lama sewa</a:t>
            </a:r>
          </a:p>
          <a:p>
            <a:pPr algn="l" marL="323850" indent="-161925" lvl="1">
              <a:lnSpc>
                <a:spcPts val="2100"/>
              </a:lnSpc>
              <a:buFont typeface="Arial"/>
              <a:buChar char="•"/>
            </a:pPr>
            <a:r>
              <a:rPr lang="en-US" sz="1500">
                <a:solidFill>
                  <a:srgbClr val="FFFFFF"/>
                </a:solidFill>
                <a:latin typeface="Poppins"/>
                <a:ea typeface="Poppins"/>
                <a:cs typeface="Poppins"/>
                <a:sym typeface="Poppins"/>
              </a:rPr>
              <a:t>Mudah untuk dikembangkan ke sistem lebih besar</a:t>
            </a:r>
          </a:p>
          <a:p>
            <a:pPr algn="l">
              <a:lnSpc>
                <a:spcPts val="2100"/>
              </a:lnSpc>
            </a:pPr>
            <a:r>
              <a:rPr lang="en-US" sz="1500">
                <a:solidFill>
                  <a:srgbClr val="FFFFFF"/>
                </a:solidFill>
                <a:latin typeface="Poppins"/>
                <a:ea typeface="Poppins"/>
                <a:cs typeface="Poppins"/>
                <a:sym typeface="Poppins"/>
              </a:rPr>
              <a:t>4. Mudah Dikembangkan</a:t>
            </a:r>
          </a:p>
          <a:p>
            <a:pPr algn="l" marL="323850" indent="-161925" lvl="1">
              <a:lnSpc>
                <a:spcPts val="2100"/>
              </a:lnSpc>
              <a:buFont typeface="Arial"/>
              <a:buChar char="•"/>
            </a:pPr>
            <a:r>
              <a:rPr lang="en-US" sz="1500">
                <a:solidFill>
                  <a:srgbClr val="FFFFFF"/>
                </a:solidFill>
                <a:latin typeface="Poppins"/>
                <a:ea typeface="Poppins"/>
                <a:cs typeface="Poppins"/>
                <a:sym typeface="Poppins"/>
              </a:rPr>
              <a:t>Struktur kode rapi (HTML, CSS, JS)</a:t>
            </a:r>
          </a:p>
          <a:p>
            <a:pPr algn="l" marL="323850" indent="-161925" lvl="1">
              <a:lnSpc>
                <a:spcPts val="2100"/>
              </a:lnSpc>
              <a:buFont typeface="Arial"/>
              <a:buChar char="•"/>
            </a:pPr>
            <a:r>
              <a:rPr lang="en-US" sz="1500">
                <a:solidFill>
                  <a:srgbClr val="FFFFFF"/>
                </a:solidFill>
                <a:latin typeface="Poppins"/>
                <a:ea typeface="Poppins"/>
                <a:cs typeface="Poppins"/>
                <a:sym typeface="Poppins"/>
              </a:rPr>
              <a:t>Dapat ditambahkan fitur admin, pembayaran, dan database</a:t>
            </a:r>
          </a:p>
          <a:p>
            <a:pPr algn="l" marL="323850" indent="-161925" lvl="1">
              <a:lnSpc>
                <a:spcPts val="2100"/>
              </a:lnSpc>
              <a:buFont typeface="Arial"/>
              <a:buChar char="•"/>
            </a:pPr>
            <a:r>
              <a:rPr lang="en-US" sz="1500">
                <a:solidFill>
                  <a:srgbClr val="FFFFFF"/>
                </a:solidFill>
                <a:latin typeface="Poppins"/>
                <a:ea typeface="Poppins"/>
                <a:cs typeface="Poppins"/>
                <a:sym typeface="Poppins"/>
              </a:rPr>
              <a:t>Siap dihosting untuk digunakan pelanggan</a:t>
            </a:r>
          </a:p>
          <a:p>
            <a:pPr algn="l">
              <a:lnSpc>
                <a:spcPts val="2100"/>
              </a:lnSpc>
            </a:pPr>
            <a:r>
              <a:rPr lang="en-US" sz="1500">
                <a:solidFill>
                  <a:srgbClr val="FFFFFF"/>
                </a:solidFill>
                <a:latin typeface="Poppins"/>
                <a:ea typeface="Poppins"/>
                <a:cs typeface="Poppins"/>
                <a:sym typeface="Poppins"/>
              </a:rPr>
              <a:t>🎯 Kesimpulan Utama</a:t>
            </a:r>
          </a:p>
          <a:p>
            <a:pPr algn="l">
              <a:lnSpc>
                <a:spcPts val="2100"/>
              </a:lnSpc>
            </a:pPr>
            <a:r>
              <a:rPr lang="en-US" sz="1500">
                <a:solidFill>
                  <a:srgbClr val="FFFFFF"/>
                </a:solidFill>
                <a:latin typeface="Poppins"/>
                <a:ea typeface="Poppins"/>
                <a:cs typeface="Poppins"/>
                <a:sym typeface="Poppins"/>
              </a:rPr>
              <a:t>Website penyewaan transportasi berhasil dibuat sebagai platform modern yang fungsional, responsif, dan memudahkan pelanggan, sekaligus meningkatkan profesionalitas bisnis CV/ PT Amanah Transport.</a:t>
            </a:r>
          </a:p>
          <a:p>
            <a:pPr algn="l">
              <a:lnSpc>
                <a:spcPts val="21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0480" y="0"/>
            <a:ext cx="1156392" cy="2209097"/>
            <a:chOff x="0" y="0"/>
            <a:chExt cx="304564" cy="581820"/>
          </a:xfrm>
        </p:grpSpPr>
        <p:sp>
          <p:nvSpPr>
            <p:cNvPr name="Freeform 3" id="3"/>
            <p:cNvSpPr/>
            <p:nvPr/>
          </p:nvSpPr>
          <p:spPr>
            <a:xfrm flipH="false" flipV="false" rot="0">
              <a:off x="0" y="0"/>
              <a:ext cx="304564" cy="581820"/>
            </a:xfrm>
            <a:custGeom>
              <a:avLst/>
              <a:gdLst/>
              <a:ahLst/>
              <a:cxnLst/>
              <a:rect r="r" b="b" t="t" l="l"/>
              <a:pathLst>
                <a:path h="581820" w="304564">
                  <a:moveTo>
                    <a:pt x="0" y="0"/>
                  </a:moveTo>
                  <a:lnTo>
                    <a:pt x="304564" y="0"/>
                  </a:lnTo>
                  <a:lnTo>
                    <a:pt x="304564" y="581820"/>
                  </a:lnTo>
                  <a:lnTo>
                    <a:pt x="0" y="581820"/>
                  </a:lnTo>
                  <a:close/>
                </a:path>
              </a:pathLst>
            </a:custGeom>
            <a:solidFill>
              <a:srgbClr val="2B4A9D"/>
            </a:solidFill>
          </p:spPr>
        </p:sp>
        <p:sp>
          <p:nvSpPr>
            <p:cNvPr name="TextBox 4" id="4"/>
            <p:cNvSpPr txBox="true"/>
            <p:nvPr/>
          </p:nvSpPr>
          <p:spPr>
            <a:xfrm>
              <a:off x="0" y="-57150"/>
              <a:ext cx="304564" cy="6389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1028700"/>
            <a:ext cx="793494" cy="654633"/>
          </a:xfrm>
          <a:custGeom>
            <a:avLst/>
            <a:gdLst/>
            <a:ahLst/>
            <a:cxnLst/>
            <a:rect r="r" b="b" t="t" l="l"/>
            <a:pathLst>
              <a:path h="654633" w="793494">
                <a:moveTo>
                  <a:pt x="0" y="0"/>
                </a:moveTo>
                <a:lnTo>
                  <a:pt x="793494" y="0"/>
                </a:lnTo>
                <a:lnTo>
                  <a:pt x="793494" y="654633"/>
                </a:lnTo>
                <a:lnTo>
                  <a:pt x="0" y="6546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832717">
            <a:off x="12979213" y="-3312992"/>
            <a:ext cx="1987590" cy="7174727"/>
            <a:chOff x="0" y="0"/>
            <a:chExt cx="523480" cy="1889640"/>
          </a:xfrm>
        </p:grpSpPr>
        <p:sp>
          <p:nvSpPr>
            <p:cNvPr name="Freeform 7" id="7"/>
            <p:cNvSpPr/>
            <p:nvPr/>
          </p:nvSpPr>
          <p:spPr>
            <a:xfrm flipH="false" flipV="false" rot="0">
              <a:off x="0" y="0"/>
              <a:ext cx="523480" cy="1889640"/>
            </a:xfrm>
            <a:custGeom>
              <a:avLst/>
              <a:gdLst/>
              <a:ahLst/>
              <a:cxnLst/>
              <a:rect r="r" b="b" t="t" l="l"/>
              <a:pathLst>
                <a:path h="1889640" w="523480">
                  <a:moveTo>
                    <a:pt x="0" y="0"/>
                  </a:moveTo>
                  <a:lnTo>
                    <a:pt x="523480" y="0"/>
                  </a:lnTo>
                  <a:lnTo>
                    <a:pt x="523480" y="1889640"/>
                  </a:lnTo>
                  <a:lnTo>
                    <a:pt x="0" y="1889640"/>
                  </a:lnTo>
                  <a:close/>
                </a:path>
              </a:pathLst>
            </a:custGeom>
            <a:solidFill>
              <a:srgbClr val="2B4A9D"/>
            </a:solidFill>
          </p:spPr>
        </p:sp>
        <p:sp>
          <p:nvSpPr>
            <p:cNvPr name="TextBox 8" id="8"/>
            <p:cNvSpPr txBox="true"/>
            <p:nvPr/>
          </p:nvSpPr>
          <p:spPr>
            <a:xfrm>
              <a:off x="0" y="-57150"/>
              <a:ext cx="523480" cy="194679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832717">
            <a:off x="12273223" y="5612672"/>
            <a:ext cx="1987590" cy="7819086"/>
            <a:chOff x="0" y="0"/>
            <a:chExt cx="523480" cy="2059348"/>
          </a:xfrm>
        </p:grpSpPr>
        <p:sp>
          <p:nvSpPr>
            <p:cNvPr name="Freeform 10" id="10"/>
            <p:cNvSpPr/>
            <p:nvPr/>
          </p:nvSpPr>
          <p:spPr>
            <a:xfrm flipH="false" flipV="false" rot="0">
              <a:off x="0" y="0"/>
              <a:ext cx="523480" cy="2059348"/>
            </a:xfrm>
            <a:custGeom>
              <a:avLst/>
              <a:gdLst/>
              <a:ahLst/>
              <a:cxnLst/>
              <a:rect r="r" b="b" t="t" l="l"/>
              <a:pathLst>
                <a:path h="2059348" w="523480">
                  <a:moveTo>
                    <a:pt x="0" y="0"/>
                  </a:moveTo>
                  <a:lnTo>
                    <a:pt x="523480" y="0"/>
                  </a:lnTo>
                  <a:lnTo>
                    <a:pt x="523480" y="2059348"/>
                  </a:lnTo>
                  <a:lnTo>
                    <a:pt x="0" y="2059348"/>
                  </a:lnTo>
                  <a:close/>
                </a:path>
              </a:pathLst>
            </a:custGeom>
            <a:solidFill>
              <a:srgbClr val="2B4A9D"/>
            </a:solidFill>
          </p:spPr>
        </p:sp>
        <p:sp>
          <p:nvSpPr>
            <p:cNvPr name="TextBox 11" id="11"/>
            <p:cNvSpPr txBox="true"/>
            <p:nvPr/>
          </p:nvSpPr>
          <p:spPr>
            <a:xfrm>
              <a:off x="0" y="-57150"/>
              <a:ext cx="523480" cy="211649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096744" y="1491027"/>
            <a:ext cx="7409104" cy="7409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A9D"/>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832717">
            <a:off x="4740819" y="8803110"/>
            <a:ext cx="1091954" cy="5397287"/>
            <a:chOff x="0" y="0"/>
            <a:chExt cx="287593" cy="1421508"/>
          </a:xfrm>
        </p:grpSpPr>
        <p:sp>
          <p:nvSpPr>
            <p:cNvPr name="Freeform 16" id="16"/>
            <p:cNvSpPr/>
            <p:nvPr/>
          </p:nvSpPr>
          <p:spPr>
            <a:xfrm flipH="false" flipV="false" rot="0">
              <a:off x="0" y="0"/>
              <a:ext cx="287593" cy="1421508"/>
            </a:xfrm>
            <a:custGeom>
              <a:avLst/>
              <a:gdLst/>
              <a:ahLst/>
              <a:cxnLst/>
              <a:rect r="r" b="b" t="t" l="l"/>
              <a:pathLst>
                <a:path h="1421508" w="287593">
                  <a:moveTo>
                    <a:pt x="143796" y="0"/>
                  </a:moveTo>
                  <a:lnTo>
                    <a:pt x="143796" y="0"/>
                  </a:lnTo>
                  <a:cubicBezTo>
                    <a:pt x="223213" y="0"/>
                    <a:pt x="287593" y="64380"/>
                    <a:pt x="287593" y="143796"/>
                  </a:cubicBezTo>
                  <a:lnTo>
                    <a:pt x="287593" y="1277711"/>
                  </a:lnTo>
                  <a:cubicBezTo>
                    <a:pt x="287593" y="1315848"/>
                    <a:pt x="272443" y="1352424"/>
                    <a:pt x="245476" y="1379391"/>
                  </a:cubicBezTo>
                  <a:cubicBezTo>
                    <a:pt x="218509" y="1406358"/>
                    <a:pt x="181934" y="1421508"/>
                    <a:pt x="143796" y="1421508"/>
                  </a:cubicBezTo>
                  <a:lnTo>
                    <a:pt x="143796" y="1421508"/>
                  </a:lnTo>
                  <a:cubicBezTo>
                    <a:pt x="105659" y="1421508"/>
                    <a:pt x="69084" y="1406358"/>
                    <a:pt x="42117" y="1379391"/>
                  </a:cubicBezTo>
                  <a:cubicBezTo>
                    <a:pt x="15150" y="1352424"/>
                    <a:pt x="0" y="1315848"/>
                    <a:pt x="0" y="1277711"/>
                  </a:cubicBezTo>
                  <a:lnTo>
                    <a:pt x="0" y="143796"/>
                  </a:lnTo>
                  <a:cubicBezTo>
                    <a:pt x="0" y="105659"/>
                    <a:pt x="15150" y="69084"/>
                    <a:pt x="42117" y="42117"/>
                  </a:cubicBezTo>
                  <a:cubicBezTo>
                    <a:pt x="69084" y="15150"/>
                    <a:pt x="105659" y="0"/>
                    <a:pt x="143796" y="0"/>
                  </a:cubicBezTo>
                  <a:close/>
                </a:path>
              </a:pathLst>
            </a:custGeom>
            <a:solidFill>
              <a:srgbClr val="5271FF"/>
            </a:solidFill>
          </p:spPr>
        </p:sp>
        <p:sp>
          <p:nvSpPr>
            <p:cNvPr name="TextBox 17" id="17"/>
            <p:cNvSpPr txBox="true"/>
            <p:nvPr/>
          </p:nvSpPr>
          <p:spPr>
            <a:xfrm>
              <a:off x="0" y="-57150"/>
              <a:ext cx="287593" cy="147865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832717">
            <a:off x="-959014" y="4771857"/>
            <a:ext cx="1091954" cy="5397287"/>
            <a:chOff x="0" y="0"/>
            <a:chExt cx="287593" cy="1421508"/>
          </a:xfrm>
        </p:grpSpPr>
        <p:sp>
          <p:nvSpPr>
            <p:cNvPr name="Freeform 19" id="19"/>
            <p:cNvSpPr/>
            <p:nvPr/>
          </p:nvSpPr>
          <p:spPr>
            <a:xfrm flipH="false" flipV="false" rot="0">
              <a:off x="0" y="0"/>
              <a:ext cx="287593" cy="1421508"/>
            </a:xfrm>
            <a:custGeom>
              <a:avLst/>
              <a:gdLst/>
              <a:ahLst/>
              <a:cxnLst/>
              <a:rect r="r" b="b" t="t" l="l"/>
              <a:pathLst>
                <a:path h="1421508" w="287593">
                  <a:moveTo>
                    <a:pt x="143796" y="0"/>
                  </a:moveTo>
                  <a:lnTo>
                    <a:pt x="143796" y="0"/>
                  </a:lnTo>
                  <a:cubicBezTo>
                    <a:pt x="223213" y="0"/>
                    <a:pt x="287593" y="64380"/>
                    <a:pt x="287593" y="143796"/>
                  </a:cubicBezTo>
                  <a:lnTo>
                    <a:pt x="287593" y="1277711"/>
                  </a:lnTo>
                  <a:cubicBezTo>
                    <a:pt x="287593" y="1315848"/>
                    <a:pt x="272443" y="1352424"/>
                    <a:pt x="245476" y="1379391"/>
                  </a:cubicBezTo>
                  <a:cubicBezTo>
                    <a:pt x="218509" y="1406358"/>
                    <a:pt x="181934" y="1421508"/>
                    <a:pt x="143796" y="1421508"/>
                  </a:cubicBezTo>
                  <a:lnTo>
                    <a:pt x="143796" y="1421508"/>
                  </a:lnTo>
                  <a:cubicBezTo>
                    <a:pt x="105659" y="1421508"/>
                    <a:pt x="69084" y="1406358"/>
                    <a:pt x="42117" y="1379391"/>
                  </a:cubicBezTo>
                  <a:cubicBezTo>
                    <a:pt x="15150" y="1352424"/>
                    <a:pt x="0" y="1315848"/>
                    <a:pt x="0" y="1277711"/>
                  </a:cubicBezTo>
                  <a:lnTo>
                    <a:pt x="0" y="143796"/>
                  </a:lnTo>
                  <a:cubicBezTo>
                    <a:pt x="0" y="105659"/>
                    <a:pt x="15150" y="69084"/>
                    <a:pt x="42117" y="42117"/>
                  </a:cubicBezTo>
                  <a:cubicBezTo>
                    <a:pt x="69084" y="15150"/>
                    <a:pt x="105659" y="0"/>
                    <a:pt x="143796" y="0"/>
                  </a:cubicBezTo>
                  <a:close/>
                </a:path>
              </a:pathLst>
            </a:custGeom>
            <a:solidFill>
              <a:srgbClr val="2B4A9D"/>
            </a:solidFill>
          </p:spPr>
        </p:sp>
        <p:sp>
          <p:nvSpPr>
            <p:cNvPr name="TextBox 20" id="20"/>
            <p:cNvSpPr txBox="true"/>
            <p:nvPr/>
          </p:nvSpPr>
          <p:spPr>
            <a:xfrm>
              <a:off x="0" y="-57150"/>
              <a:ext cx="287593" cy="147865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0760701" y="2154984"/>
            <a:ext cx="6081189" cy="608118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2022" t="0" r="-17790" b="0"/>
              </a:stretch>
            </a:blipFill>
          </p:spPr>
        </p:sp>
      </p:grpSp>
      <p:sp>
        <p:nvSpPr>
          <p:cNvPr name="TextBox 23" id="23"/>
          <p:cNvSpPr txBox="true"/>
          <p:nvPr/>
        </p:nvSpPr>
        <p:spPr>
          <a:xfrm rot="0">
            <a:off x="2006872" y="3714931"/>
            <a:ext cx="6828520" cy="2923813"/>
          </a:xfrm>
          <a:prstGeom prst="rect">
            <a:avLst/>
          </a:prstGeom>
        </p:spPr>
        <p:txBody>
          <a:bodyPr anchor="t" rtlCol="false" tIns="0" lIns="0" bIns="0" rIns="0">
            <a:spAutoFit/>
          </a:bodyPr>
          <a:lstStyle/>
          <a:p>
            <a:pPr algn="l">
              <a:lnSpc>
                <a:spcPts val="10888"/>
              </a:lnSpc>
            </a:pPr>
            <a:r>
              <a:rPr lang="en-US" sz="10571" b="true">
                <a:solidFill>
                  <a:srgbClr val="2B4A9D"/>
                </a:solidFill>
                <a:latin typeface="Poppins Bold"/>
                <a:ea typeface="Poppins Bold"/>
                <a:cs typeface="Poppins Bold"/>
                <a:sym typeface="Poppins Bold"/>
              </a:rPr>
              <a:t>TERIMA</a:t>
            </a:r>
          </a:p>
          <a:p>
            <a:pPr algn="l">
              <a:lnSpc>
                <a:spcPts val="10888"/>
              </a:lnSpc>
            </a:pPr>
            <a:r>
              <a:rPr lang="en-US" sz="10571" b="true">
                <a:solidFill>
                  <a:srgbClr val="2B4A9D"/>
                </a:solidFill>
                <a:latin typeface="Poppins Bold"/>
                <a:ea typeface="Poppins Bold"/>
                <a:cs typeface="Poppins Bold"/>
                <a:sym typeface="Poppins Bold"/>
              </a:rPr>
              <a:t>KASIH</a:t>
            </a:r>
          </a:p>
        </p:txBody>
      </p:sp>
      <p:grpSp>
        <p:nvGrpSpPr>
          <p:cNvPr name="Group 24" id="24"/>
          <p:cNvGrpSpPr/>
          <p:nvPr/>
        </p:nvGrpSpPr>
        <p:grpSpPr>
          <a:xfrm rot="0">
            <a:off x="9716776" y="2209097"/>
            <a:ext cx="2087851" cy="208785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71FF"/>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5758713" y="6735587"/>
            <a:ext cx="1500587" cy="150058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271FF"/>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1832717">
            <a:off x="5413492" y="-3309360"/>
            <a:ext cx="1091954" cy="5397287"/>
            <a:chOff x="0" y="0"/>
            <a:chExt cx="287593" cy="1421508"/>
          </a:xfrm>
        </p:grpSpPr>
        <p:sp>
          <p:nvSpPr>
            <p:cNvPr name="Freeform 31" id="31"/>
            <p:cNvSpPr/>
            <p:nvPr/>
          </p:nvSpPr>
          <p:spPr>
            <a:xfrm flipH="false" flipV="false" rot="0">
              <a:off x="0" y="0"/>
              <a:ext cx="287593" cy="1421508"/>
            </a:xfrm>
            <a:custGeom>
              <a:avLst/>
              <a:gdLst/>
              <a:ahLst/>
              <a:cxnLst/>
              <a:rect r="r" b="b" t="t" l="l"/>
              <a:pathLst>
                <a:path h="1421508" w="287593">
                  <a:moveTo>
                    <a:pt x="143796" y="0"/>
                  </a:moveTo>
                  <a:lnTo>
                    <a:pt x="143796" y="0"/>
                  </a:lnTo>
                  <a:cubicBezTo>
                    <a:pt x="223213" y="0"/>
                    <a:pt x="287593" y="64380"/>
                    <a:pt x="287593" y="143796"/>
                  </a:cubicBezTo>
                  <a:lnTo>
                    <a:pt x="287593" y="1277711"/>
                  </a:lnTo>
                  <a:cubicBezTo>
                    <a:pt x="287593" y="1315848"/>
                    <a:pt x="272443" y="1352424"/>
                    <a:pt x="245476" y="1379391"/>
                  </a:cubicBezTo>
                  <a:cubicBezTo>
                    <a:pt x="218509" y="1406358"/>
                    <a:pt x="181934" y="1421508"/>
                    <a:pt x="143796" y="1421508"/>
                  </a:cubicBezTo>
                  <a:lnTo>
                    <a:pt x="143796" y="1421508"/>
                  </a:lnTo>
                  <a:cubicBezTo>
                    <a:pt x="105659" y="1421508"/>
                    <a:pt x="69084" y="1406358"/>
                    <a:pt x="42117" y="1379391"/>
                  </a:cubicBezTo>
                  <a:cubicBezTo>
                    <a:pt x="15150" y="1352424"/>
                    <a:pt x="0" y="1315848"/>
                    <a:pt x="0" y="1277711"/>
                  </a:cubicBezTo>
                  <a:lnTo>
                    <a:pt x="0" y="143796"/>
                  </a:lnTo>
                  <a:cubicBezTo>
                    <a:pt x="0" y="105659"/>
                    <a:pt x="15150" y="69084"/>
                    <a:pt x="42117" y="42117"/>
                  </a:cubicBezTo>
                  <a:cubicBezTo>
                    <a:pt x="69084" y="15150"/>
                    <a:pt x="105659" y="0"/>
                    <a:pt x="143796" y="0"/>
                  </a:cubicBezTo>
                  <a:close/>
                </a:path>
              </a:pathLst>
            </a:custGeom>
            <a:solidFill>
              <a:srgbClr val="2B4A9D"/>
            </a:solidFill>
          </p:spPr>
        </p:sp>
        <p:sp>
          <p:nvSpPr>
            <p:cNvPr name="TextBox 32" id="32"/>
            <p:cNvSpPr txBox="true"/>
            <p:nvPr/>
          </p:nvSpPr>
          <p:spPr>
            <a:xfrm>
              <a:off x="0" y="-57150"/>
              <a:ext cx="287593" cy="147865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DAG4j-ya_pA</dc:identifier>
  <dcterms:modified xsi:type="dcterms:W3CDTF">2011-08-01T06:04:30Z</dcterms:modified>
  <cp:revision>1</cp:revision>
  <dc:title>Putih dan Biru Modern Proposal Bisnis Presentasi </dc:title>
</cp:coreProperties>
</file>